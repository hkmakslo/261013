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6256000" cy="9144000"/>
  <p:notesSz cx="9144000" cy="1625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3-2.png"/><Relationship Id="rId3" Type="http://schemas.openxmlformats.org/officeDocument/2006/relationships/image" Target="../media/image-1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s://kslo.tech/nb-teachers" TargetMode="External"/><Relationship Id="rId1" Type="http://schemas.openxmlformats.org/officeDocument/2006/relationships/image" Target="../media/image-1-1.png"/><Relationship Id="rId3" Type="http://schemas.openxmlformats.org/officeDocument/2006/relationships/image" Target="../media/image-4-2.png"/><Relationship Id="rId4" Type="http://schemas.openxmlformats.org/officeDocument/2006/relationships/image" Target="../media/image-1-2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0-2.png"/><Relationship Id="rId3" Type="http://schemas.openxmlformats.org/officeDocument/2006/relationships/image" Target="../media/image-1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1-2.png"/><Relationship Id="rId3" Type="http://schemas.openxmlformats.org/officeDocument/2006/relationships/image" Target="../media/image-1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hyperlink" Target="https://padlet.com/thehkmakslocollege/tech-in-ed-gemini-notebook-workshop-intermediate-level-13-oc-s024b3yqp5avekkd7yhd" TargetMode="External"/><Relationship Id="rId1" Type="http://schemas.openxmlformats.org/officeDocument/2006/relationships/image" Target="../media/image-1-1.png"/><Relationship Id="rId3" Type="http://schemas.openxmlformats.org/officeDocument/2006/relationships/image" Target="../media/image-14-2.png"/><Relationship Id="rId4" Type="http://schemas.openxmlformats.org/officeDocument/2006/relationships/image" Target="../media/image-1-2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ver-shape-1"/>
          <p:cNvSpPr/>
          <p:nvPr/>
        </p:nvSpPr>
        <p:spPr>
          <a:xfrm>
            <a:off x="762000" y="673100"/>
            <a:ext cx="228600" cy="228600"/>
          </a:xfrm>
          <a:prstGeom prst="rect">
            <a:avLst/>
          </a:prstGeom>
          <a:solidFill>
            <a:srgbClr val="E74627"/>
          </a:solidFill>
          <a:ln/>
        </p:spPr>
      </p:sp>
      <p:sp>
        <p:nvSpPr>
          <p:cNvPr id="3" name="cover-text-2"/>
          <p:cNvSpPr/>
          <p:nvPr/>
        </p:nvSpPr>
        <p:spPr>
          <a:xfrm>
            <a:off x="1193800" y="609600"/>
            <a:ext cx="8763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altLang="en-US" sz="2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CONTINUING PROFESSIONAL DEVELOPMENT</a:t>
            </a:r>
            <a:endParaRPr lang="en-US" sz="2000" dirty="0"/>
          </a:p>
        </p:txBody>
      </p:sp>
      <p:pic>
        <p:nvPicPr>
          <p:cNvPr id="4" name="gemini-notebook-logo" descr="preencoded.png">    </p:cNvPr>
          <p:cNvPicPr>
            <a:picLocks noChangeAspect="1"/>
          </p:cNvPicPr>
          <p:nvPr/>
        </p:nvPicPr>
        <p:blipFill>
          <a:blip r:embed="rId1"/>
          <a:srcRect l="0" r="0" t="-90" b="-90"/>
          <a:stretch/>
        </p:blipFill>
        <p:spPr>
          <a:xfrm>
            <a:off x="12192000" y="381000"/>
            <a:ext cx="3302000" cy="281940"/>
          </a:xfrm>
          <a:prstGeom prst="rect">
            <a:avLst/>
          </a:prstGeom>
        </p:spPr>
      </p:pic>
      <p:sp>
        <p:nvSpPr>
          <p:cNvPr id="5" name="cover-text-4"/>
          <p:cNvSpPr/>
          <p:nvPr/>
        </p:nvSpPr>
        <p:spPr>
          <a:xfrm>
            <a:off x="762000" y="1727200"/>
            <a:ext cx="14732000" cy="2108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004"/>
              </a:lnSpc>
              <a:buNone/>
            </a:pPr>
            <a:r>
              <a:rPr lang="en-US" altLang="en-US" sz="6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Notebook Workshop</a:t>
            </a:r>
            <a:endParaRPr lang="en-US" sz="6800" dirty="0"/>
          </a:p>
          <a:p>
            <a:pPr algn="l" indent="0" marL="0">
              <a:lnSpc>
                <a:spcPts val="5280"/>
              </a:lnSpc>
              <a:buNone/>
            </a:pPr>
            <a:r>
              <a:rPr lang="en-US" altLang="en-US" sz="44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(Intermediate Level)</a:t>
            </a:r>
            <a:endParaRPr lang="en-US" sz="6800" dirty="0"/>
          </a:p>
        </p:txBody>
      </p:sp>
      <p:sp>
        <p:nvSpPr>
          <p:cNvPr id="6" name="cover-text-5"/>
          <p:cNvSpPr/>
          <p:nvPr/>
        </p:nvSpPr>
        <p:spPr>
          <a:xfrm>
            <a:off x="762000" y="4152900"/>
            <a:ext cx="14732000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4500" b="1" dirty="0">
                <a:solidFill>
                  <a:srgbClr val="E746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Beyond “Generate”</a:t>
            </a:r>
            <a:endParaRPr lang="en-US" sz="4500" dirty="0"/>
          </a:p>
        </p:txBody>
      </p:sp>
      <p:sp>
        <p:nvSpPr>
          <p:cNvPr id="7" name="cover-shape-6"/>
          <p:cNvSpPr/>
          <p:nvPr/>
        </p:nvSpPr>
        <p:spPr>
          <a:xfrm>
            <a:off x="762000" y="5295900"/>
            <a:ext cx="14732000" cy="9144"/>
          </a:xfrm>
          <a:prstGeom prst="line">
            <a:avLst/>
          </a:prstGeom>
          <a:ln w="25400">
            <a:solidFill>
              <a:srgbClr val="111111"/>
            </a:solidFill>
            <a:prstDash val="solid"/>
          </a:ln>
        </p:spPr>
      </p:sp>
      <p:sp>
        <p:nvSpPr>
          <p:cNvPr id="8" name="cover-text-7"/>
          <p:cNvSpPr/>
          <p:nvPr/>
        </p:nvSpPr>
        <p:spPr>
          <a:xfrm>
            <a:off x="762000" y="5753100"/>
            <a:ext cx="14732000" cy="2108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800"/>
              </a:lnSpc>
              <a:buNone/>
            </a:pPr>
            <a:r>
              <a:rPr lang="en-US" altLang="en-US" sz="3200" dirty="0">
                <a:solidFill>
                  <a:srgbClr val="E746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r>
              <a:rPr lang="en-US" alt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Make outputs fit your lesson.</a:t>
            </a:r>
            <a:endParaRPr lang="en-US" sz="3200" dirty="0"/>
          </a:p>
          <a:p>
            <a:pPr algn="l" indent="0" marL="0">
              <a:lnSpc>
                <a:spcPts val="4800"/>
              </a:lnSpc>
              <a:buNone/>
            </a:pPr>
            <a:r>
              <a:rPr lang="en-US" altLang="en-US" sz="3200" dirty="0">
                <a:solidFill>
                  <a:srgbClr val="E746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r>
              <a:rPr lang="en-US" alt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Use your sources as evidence.</a:t>
            </a:r>
            <a:endParaRPr lang="en-US" sz="3200" dirty="0"/>
          </a:p>
          <a:p>
            <a:pPr algn="l" indent="0" marL="0">
              <a:lnSpc>
                <a:spcPts val="4800"/>
              </a:lnSpc>
              <a:buNone/>
            </a:pPr>
            <a:r>
              <a:rPr lang="en-US" altLang="en-US" sz="3200" dirty="0">
                <a:solidFill>
                  <a:srgbClr val="E746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r>
              <a:rPr lang="en-US" alt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Keep the teacher in control.</a:t>
            </a:r>
            <a:endParaRPr lang="en-US" sz="3200" dirty="0"/>
          </a:p>
        </p:txBody>
      </p:sp>
      <p:sp>
        <p:nvSpPr>
          <p:cNvPr id="9" name="cover-shape-8"/>
          <p:cNvSpPr/>
          <p:nvPr/>
        </p:nvSpPr>
        <p:spPr>
          <a:xfrm>
            <a:off x="762000" y="8102600"/>
            <a:ext cx="14732000" cy="9144"/>
          </a:xfrm>
          <a:prstGeom prst="line">
            <a:avLst/>
          </a:prstGeom>
          <a:ln w="12700">
            <a:solidFill>
              <a:srgbClr val="CCCCC5"/>
            </a:solidFill>
            <a:prstDash val="solid"/>
          </a:ln>
        </p:spPr>
      </p:sp>
      <p:sp>
        <p:nvSpPr>
          <p:cNvPr id="10" name="cover-shape-9"/>
          <p:cNvSpPr/>
          <p:nvPr/>
        </p:nvSpPr>
        <p:spPr>
          <a:xfrm>
            <a:off x="762000" y="8305800"/>
            <a:ext cx="457200" cy="457200"/>
          </a:xfrm>
          <a:prstGeom prst="roundRect">
            <a:avLst>
              <a:gd name="adj" fmla="val 19444"/>
            </a:avLst>
          </a:prstGeom>
          <a:ln w="19050">
            <a:solidFill>
              <a:srgbClr val="E74627"/>
            </a:solidFill>
            <a:prstDash val="solid"/>
          </a:ln>
        </p:spPr>
      </p:sp>
      <p:pic>
        <p:nvPicPr>
          <p:cNvPr id="11" name="cover-image-10" descr="preencoded.png">    </p:cNvPr>
          <p:cNvPicPr>
            <a:picLocks noChangeAspect="1"/>
          </p:cNvPicPr>
          <p:nvPr/>
        </p:nvPicPr>
        <p:blipFill>
          <a:blip r:embed="rId2"/>
          <a:srcRect l="-245" r="-245" t="0" b="0"/>
          <a:stretch/>
        </p:blipFill>
        <p:spPr>
          <a:xfrm>
            <a:off x="812800" y="8356600"/>
            <a:ext cx="355600" cy="355600"/>
          </a:xfrm>
          <a:prstGeom prst="rect">
            <a:avLst/>
          </a:prstGeom>
        </p:spPr>
      </p:pic>
      <p:sp>
        <p:nvSpPr>
          <p:cNvPr id="12" name="cover-text-11"/>
          <p:cNvSpPr/>
          <p:nvPr/>
        </p:nvSpPr>
        <p:spPr>
          <a:xfrm>
            <a:off x="1397000" y="8407400"/>
            <a:ext cx="90170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5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HKMA K S Lo College Tech in Ed Task Force</a:t>
            </a:r>
            <a:endParaRPr lang="en-US" sz="1500" dirty="0"/>
          </a:p>
        </p:txBody>
      </p:sp>
      <p:sp>
        <p:nvSpPr>
          <p:cNvPr id="13" name="cover-text-12"/>
          <p:cNvSpPr/>
          <p:nvPr/>
        </p:nvSpPr>
        <p:spPr>
          <a:xfrm>
            <a:off x="12192000" y="8407400"/>
            <a:ext cx="21590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5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Oct 2026</a:t>
            </a:r>
            <a:endParaRPr lang="en-US" sz="1500" dirty="0"/>
          </a:p>
        </p:txBody>
      </p:sp>
      <p:sp>
        <p:nvSpPr>
          <p:cNvPr id="14" name="cover-text-13"/>
          <p:cNvSpPr/>
          <p:nvPr/>
        </p:nvSpPr>
        <p:spPr>
          <a:xfrm>
            <a:off x="14859000" y="8407400"/>
            <a:ext cx="6350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5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emini-notebook-logo" descr="preencoded.png">    </p:cNvPr>
          <p:cNvPicPr>
            <a:picLocks noChangeAspect="1"/>
          </p:cNvPicPr>
          <p:nvPr/>
        </p:nvPicPr>
        <p:blipFill>
          <a:blip r:embed="rId1"/>
          <a:srcRect l="0" r="0" t="-90" b="-90"/>
          <a:stretch/>
        </p:blipFill>
        <p:spPr>
          <a:xfrm>
            <a:off x="12192000" y="381000"/>
            <a:ext cx="3302000" cy="281940"/>
          </a:xfrm>
          <a:prstGeom prst="rect">
            <a:avLst/>
          </a:prstGeom>
        </p:spPr>
      </p:pic>
      <p:sp>
        <p:nvSpPr>
          <p:cNvPr id="3" name="grounded-text-2"/>
          <p:cNvSpPr/>
          <p:nvPr/>
        </p:nvSpPr>
        <p:spPr>
          <a:xfrm>
            <a:off x="762000" y="889000"/>
            <a:ext cx="14732000" cy="180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042"/>
              </a:lnSpc>
              <a:buNone/>
            </a:pPr>
            <a:r>
              <a:rPr lang="en-US" altLang="en-US" sz="5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makes</a:t>
            </a:r>
            <a:endParaRPr lang="en-US" sz="5700" dirty="0"/>
          </a:p>
          <a:p>
            <a:pPr algn="l" indent="0" marL="0">
              <a:lnSpc>
                <a:spcPts val="6042"/>
              </a:lnSpc>
              <a:buNone/>
            </a:pPr>
            <a:r>
              <a:rPr lang="en-US" altLang="en-US" sz="5700" b="1" dirty="0">
                <a:solidFill>
                  <a:srgbClr val="E746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Notebook different?</a:t>
            </a:r>
            <a:endParaRPr lang="en-US" sz="5700" dirty="0"/>
          </a:p>
        </p:txBody>
      </p:sp>
      <p:sp>
        <p:nvSpPr>
          <p:cNvPr id="4" name="grounded-shape-3"/>
          <p:cNvSpPr/>
          <p:nvPr/>
        </p:nvSpPr>
        <p:spPr>
          <a:xfrm>
            <a:off x="762000" y="3263900"/>
            <a:ext cx="14732000" cy="9144"/>
          </a:xfrm>
          <a:prstGeom prst="line">
            <a:avLst/>
          </a:prstGeom>
          <a:ln w="25400">
            <a:solidFill>
              <a:srgbClr val="111111"/>
            </a:solidFill>
            <a:prstDash val="solid"/>
          </a:ln>
        </p:spPr>
      </p:sp>
      <p:sp>
        <p:nvSpPr>
          <p:cNvPr id="5" name="grounded-text-4"/>
          <p:cNvSpPr/>
          <p:nvPr/>
        </p:nvSpPr>
        <p:spPr>
          <a:xfrm>
            <a:off x="762000" y="3784600"/>
            <a:ext cx="1651000" cy="1104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7000" b="1" dirty="0">
                <a:solidFill>
                  <a:srgbClr val="E746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7000" dirty="0"/>
          </a:p>
        </p:txBody>
      </p:sp>
      <p:sp>
        <p:nvSpPr>
          <p:cNvPr id="6" name="grounded-text-5"/>
          <p:cNvSpPr/>
          <p:nvPr/>
        </p:nvSpPr>
        <p:spPr>
          <a:xfrm>
            <a:off x="2857500" y="4013200"/>
            <a:ext cx="12636500" cy="850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35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 with the sources you provide.</a:t>
            </a:r>
            <a:endParaRPr lang="en-US" sz="3500" dirty="0"/>
          </a:p>
        </p:txBody>
      </p:sp>
      <p:sp>
        <p:nvSpPr>
          <p:cNvPr id="7" name="grounded-shape-6"/>
          <p:cNvSpPr/>
          <p:nvPr/>
        </p:nvSpPr>
        <p:spPr>
          <a:xfrm>
            <a:off x="2857500" y="5092700"/>
            <a:ext cx="12636500" cy="9144"/>
          </a:xfrm>
          <a:prstGeom prst="line">
            <a:avLst/>
          </a:prstGeom>
          <a:ln w="12700">
            <a:solidFill>
              <a:srgbClr val="CCCCC5"/>
            </a:solidFill>
            <a:prstDash val="solid"/>
          </a:ln>
        </p:spPr>
      </p:sp>
      <p:sp>
        <p:nvSpPr>
          <p:cNvPr id="8" name="grounded-text-7"/>
          <p:cNvSpPr/>
          <p:nvPr/>
        </p:nvSpPr>
        <p:spPr>
          <a:xfrm>
            <a:off x="762000" y="5334000"/>
            <a:ext cx="1651000" cy="1104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7000" b="1" dirty="0">
                <a:solidFill>
                  <a:srgbClr val="E746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7000" dirty="0"/>
          </a:p>
        </p:txBody>
      </p:sp>
      <p:sp>
        <p:nvSpPr>
          <p:cNvPr id="9" name="grounded-text-8"/>
          <p:cNvSpPr/>
          <p:nvPr/>
        </p:nvSpPr>
        <p:spPr>
          <a:xfrm>
            <a:off x="2857500" y="5562600"/>
            <a:ext cx="12636500" cy="850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35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Shows citations you can check.</a:t>
            </a:r>
            <a:endParaRPr lang="en-US" sz="3500" dirty="0"/>
          </a:p>
        </p:txBody>
      </p:sp>
      <p:sp>
        <p:nvSpPr>
          <p:cNvPr id="10" name="grounded-shape-9"/>
          <p:cNvSpPr/>
          <p:nvPr/>
        </p:nvSpPr>
        <p:spPr>
          <a:xfrm>
            <a:off x="2857500" y="6642100"/>
            <a:ext cx="12636500" cy="9144"/>
          </a:xfrm>
          <a:prstGeom prst="line">
            <a:avLst/>
          </a:prstGeom>
          <a:ln w="12700">
            <a:solidFill>
              <a:srgbClr val="CCCCC5"/>
            </a:solidFill>
            <a:prstDash val="solid"/>
          </a:ln>
        </p:spPr>
      </p:sp>
      <p:sp>
        <p:nvSpPr>
          <p:cNvPr id="11" name="grounded-text-10"/>
          <p:cNvSpPr/>
          <p:nvPr/>
        </p:nvSpPr>
        <p:spPr>
          <a:xfrm>
            <a:off x="762000" y="6883400"/>
            <a:ext cx="1651000" cy="1104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7000" b="1" dirty="0">
                <a:solidFill>
                  <a:srgbClr val="E746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7000" dirty="0"/>
          </a:p>
        </p:txBody>
      </p:sp>
      <p:sp>
        <p:nvSpPr>
          <p:cNvPr id="12" name="grounded-text-11"/>
          <p:cNvSpPr/>
          <p:nvPr/>
        </p:nvSpPr>
        <p:spPr>
          <a:xfrm>
            <a:off x="2857500" y="7112000"/>
            <a:ext cx="12636500" cy="850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35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Turns sources into different formats.</a:t>
            </a:r>
            <a:endParaRPr lang="en-US" sz="3500" dirty="0"/>
          </a:p>
        </p:txBody>
      </p:sp>
      <p:sp>
        <p:nvSpPr>
          <p:cNvPr id="13" name="grounded-shape-12"/>
          <p:cNvSpPr/>
          <p:nvPr/>
        </p:nvSpPr>
        <p:spPr>
          <a:xfrm>
            <a:off x="762000" y="8102600"/>
            <a:ext cx="14732000" cy="9144"/>
          </a:xfrm>
          <a:prstGeom prst="line">
            <a:avLst/>
          </a:prstGeom>
          <a:ln w="12700">
            <a:solidFill>
              <a:srgbClr val="CCCCC5"/>
            </a:solidFill>
            <a:prstDash val="solid"/>
          </a:ln>
        </p:spPr>
      </p:sp>
      <p:sp>
        <p:nvSpPr>
          <p:cNvPr id="14" name="grounded-shape-13"/>
          <p:cNvSpPr/>
          <p:nvPr/>
        </p:nvSpPr>
        <p:spPr>
          <a:xfrm>
            <a:off x="762000" y="8305800"/>
            <a:ext cx="457200" cy="457200"/>
          </a:xfrm>
          <a:prstGeom prst="roundRect">
            <a:avLst>
              <a:gd name="adj" fmla="val 19444"/>
            </a:avLst>
          </a:prstGeom>
          <a:ln w="19050">
            <a:solidFill>
              <a:srgbClr val="E74627"/>
            </a:solidFill>
            <a:prstDash val="solid"/>
          </a:ln>
        </p:spPr>
      </p:sp>
      <p:pic>
        <p:nvPicPr>
          <p:cNvPr id="15" name="grounded-image-14" descr="preencoded.png">    </p:cNvPr>
          <p:cNvPicPr>
            <a:picLocks noChangeAspect="1"/>
          </p:cNvPicPr>
          <p:nvPr/>
        </p:nvPicPr>
        <p:blipFill>
          <a:blip r:embed="rId2"/>
          <a:srcRect l="-245" r="-245" t="0" b="0"/>
          <a:stretch/>
        </p:blipFill>
        <p:spPr>
          <a:xfrm>
            <a:off x="812800" y="8356600"/>
            <a:ext cx="355600" cy="355600"/>
          </a:xfrm>
          <a:prstGeom prst="rect">
            <a:avLst/>
          </a:prstGeom>
        </p:spPr>
      </p:pic>
      <p:sp>
        <p:nvSpPr>
          <p:cNvPr id="16" name="grounded-text-15"/>
          <p:cNvSpPr/>
          <p:nvPr/>
        </p:nvSpPr>
        <p:spPr>
          <a:xfrm>
            <a:off x="1397000" y="8407400"/>
            <a:ext cx="90170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5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HKMA K S Lo College Tech in Ed Task Force</a:t>
            </a:r>
            <a:endParaRPr lang="en-US" sz="1500" dirty="0"/>
          </a:p>
        </p:txBody>
      </p:sp>
      <p:sp>
        <p:nvSpPr>
          <p:cNvPr id="17" name="grounded-text-16"/>
          <p:cNvSpPr/>
          <p:nvPr/>
        </p:nvSpPr>
        <p:spPr>
          <a:xfrm>
            <a:off x="12192000" y="8407400"/>
            <a:ext cx="21590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5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Oct 2026</a:t>
            </a:r>
            <a:endParaRPr lang="en-US" sz="1500" dirty="0"/>
          </a:p>
        </p:txBody>
      </p:sp>
      <p:sp>
        <p:nvSpPr>
          <p:cNvPr id="18" name="grounded-text-17"/>
          <p:cNvSpPr/>
          <p:nvPr/>
        </p:nvSpPr>
        <p:spPr>
          <a:xfrm>
            <a:off x="14859000" y="8407400"/>
            <a:ext cx="6350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5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emini-notebook-logo" descr="preencoded.png">    </p:cNvPr>
          <p:cNvPicPr>
            <a:picLocks noChangeAspect="1"/>
          </p:cNvPicPr>
          <p:nvPr/>
        </p:nvPicPr>
        <p:blipFill>
          <a:blip r:embed="rId1"/>
          <a:srcRect l="0" r="0" t="-90" b="-90"/>
          <a:stretch/>
        </p:blipFill>
        <p:spPr>
          <a:xfrm>
            <a:off x="12192000" y="381000"/>
            <a:ext cx="3302000" cy="281940"/>
          </a:xfrm>
          <a:prstGeom prst="rect">
            <a:avLst/>
          </a:prstGeom>
        </p:spPr>
      </p:pic>
      <p:sp>
        <p:nvSpPr>
          <p:cNvPr id="3" name="studio-text-2"/>
          <p:cNvSpPr/>
          <p:nvPr/>
        </p:nvSpPr>
        <p:spPr>
          <a:xfrm>
            <a:off x="762000" y="889000"/>
            <a:ext cx="14732000" cy="111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55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Eight Studio tools in our version</a:t>
            </a:r>
            <a:endParaRPr lang="en-US" sz="5500" dirty="0"/>
          </a:p>
        </p:txBody>
      </p:sp>
      <p:sp>
        <p:nvSpPr>
          <p:cNvPr id="4" name="studio-shape-3"/>
          <p:cNvSpPr/>
          <p:nvPr/>
        </p:nvSpPr>
        <p:spPr>
          <a:xfrm>
            <a:off x="762000" y="2463800"/>
            <a:ext cx="14732000" cy="9144"/>
          </a:xfrm>
          <a:prstGeom prst="line">
            <a:avLst/>
          </a:prstGeom>
          <a:ln w="25400">
            <a:solidFill>
              <a:srgbClr val="111111"/>
            </a:solidFill>
            <a:prstDash val="solid"/>
          </a:ln>
        </p:spPr>
      </p:sp>
      <p:sp>
        <p:nvSpPr>
          <p:cNvPr id="5" name="studio-text-4"/>
          <p:cNvSpPr/>
          <p:nvPr/>
        </p:nvSpPr>
        <p:spPr>
          <a:xfrm>
            <a:off x="762000" y="3149600"/>
            <a:ext cx="7112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3500" b="1" dirty="0">
                <a:solidFill>
                  <a:srgbClr val="E746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</a:t>
            </a:r>
            <a:endParaRPr lang="en-US" sz="3500" dirty="0"/>
          </a:p>
        </p:txBody>
      </p:sp>
      <p:sp>
        <p:nvSpPr>
          <p:cNvPr id="6" name="studio-text-5"/>
          <p:cNvSpPr/>
          <p:nvPr/>
        </p:nvSpPr>
        <p:spPr>
          <a:xfrm>
            <a:off x="762000" y="3873500"/>
            <a:ext cx="7112000" cy="596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Reports, Mind Maps</a:t>
            </a:r>
            <a:endParaRPr lang="en-US" sz="2900" dirty="0"/>
          </a:p>
        </p:txBody>
      </p:sp>
      <p:sp>
        <p:nvSpPr>
          <p:cNvPr id="7" name="studio-text-6"/>
          <p:cNvSpPr/>
          <p:nvPr/>
        </p:nvSpPr>
        <p:spPr>
          <a:xfrm>
            <a:off x="762000" y="4889500"/>
            <a:ext cx="7112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3500" b="1" dirty="0">
                <a:solidFill>
                  <a:srgbClr val="E746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/ hear</a:t>
            </a:r>
            <a:endParaRPr lang="en-US" sz="3500" dirty="0"/>
          </a:p>
        </p:txBody>
      </p:sp>
      <p:sp>
        <p:nvSpPr>
          <p:cNvPr id="8" name="studio-text-7"/>
          <p:cNvSpPr/>
          <p:nvPr/>
        </p:nvSpPr>
        <p:spPr>
          <a:xfrm>
            <a:off x="762000" y="5613400"/>
            <a:ext cx="7112000" cy="596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Slides, Infographics, Audio, Video</a:t>
            </a:r>
            <a:endParaRPr lang="en-US" sz="2900" dirty="0"/>
          </a:p>
        </p:txBody>
      </p:sp>
      <p:sp>
        <p:nvSpPr>
          <p:cNvPr id="9" name="studio-text-8"/>
          <p:cNvSpPr/>
          <p:nvPr/>
        </p:nvSpPr>
        <p:spPr>
          <a:xfrm>
            <a:off x="762000" y="6616700"/>
            <a:ext cx="7112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3500" b="1" dirty="0">
                <a:solidFill>
                  <a:srgbClr val="E746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understanding</a:t>
            </a:r>
            <a:endParaRPr lang="en-US" sz="3500" dirty="0"/>
          </a:p>
        </p:txBody>
      </p:sp>
      <p:sp>
        <p:nvSpPr>
          <p:cNvPr id="10" name="studio-text-9"/>
          <p:cNvSpPr/>
          <p:nvPr/>
        </p:nvSpPr>
        <p:spPr>
          <a:xfrm>
            <a:off x="762000" y="7340600"/>
            <a:ext cx="7112000" cy="596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Flashcards, Quizzes</a:t>
            </a:r>
            <a:endParaRPr lang="en-US" sz="2900" dirty="0"/>
          </a:p>
        </p:txBody>
      </p:sp>
      <p:sp>
        <p:nvSpPr>
          <p:cNvPr id="11" name="studio-shape-10"/>
          <p:cNvSpPr/>
          <p:nvPr/>
        </p:nvSpPr>
        <p:spPr>
          <a:xfrm>
            <a:off x="8064500" y="2971800"/>
            <a:ext cx="9144" cy="4775200"/>
          </a:xfrm>
          <a:prstGeom prst="line">
            <a:avLst/>
          </a:prstGeom>
          <a:ln w="12700">
            <a:solidFill>
              <a:srgbClr val="CCCCC5"/>
            </a:solidFill>
            <a:prstDash val="solid"/>
          </a:ln>
        </p:spPr>
      </p:sp>
      <p:pic>
        <p:nvPicPr>
          <p:cNvPr id="12" name="studio-image-11" descr="preencoded.png">    </p:cNvPr>
          <p:cNvPicPr>
            <a:picLocks noChangeAspect="1"/>
          </p:cNvPicPr>
          <p:nvPr/>
        </p:nvPicPr>
        <p:blipFill>
          <a:blip r:embed="rId2"/>
          <a:srcRect l="0" r="0" t="-21" b="-21"/>
          <a:stretch/>
        </p:blipFill>
        <p:spPr>
          <a:xfrm>
            <a:off x="8496300" y="2959100"/>
            <a:ext cx="6997700" cy="4711700"/>
          </a:xfrm>
          <a:prstGeom prst="rect">
            <a:avLst/>
          </a:prstGeom>
        </p:spPr>
      </p:pic>
      <p:sp>
        <p:nvSpPr>
          <p:cNvPr id="13" name="studio-shape-12"/>
          <p:cNvSpPr/>
          <p:nvPr/>
        </p:nvSpPr>
        <p:spPr>
          <a:xfrm>
            <a:off x="762000" y="8102600"/>
            <a:ext cx="14732000" cy="9144"/>
          </a:xfrm>
          <a:prstGeom prst="line">
            <a:avLst/>
          </a:prstGeom>
          <a:ln w="12700">
            <a:solidFill>
              <a:srgbClr val="CCCCC5"/>
            </a:solidFill>
            <a:prstDash val="solid"/>
          </a:ln>
        </p:spPr>
      </p:sp>
      <p:sp>
        <p:nvSpPr>
          <p:cNvPr id="14" name="studio-shape-13"/>
          <p:cNvSpPr/>
          <p:nvPr/>
        </p:nvSpPr>
        <p:spPr>
          <a:xfrm>
            <a:off x="762000" y="8305800"/>
            <a:ext cx="457200" cy="457200"/>
          </a:xfrm>
          <a:prstGeom prst="roundRect">
            <a:avLst>
              <a:gd name="adj" fmla="val 19444"/>
            </a:avLst>
          </a:prstGeom>
          <a:ln w="19050">
            <a:solidFill>
              <a:srgbClr val="E74627"/>
            </a:solidFill>
            <a:prstDash val="solid"/>
          </a:ln>
        </p:spPr>
      </p:sp>
      <p:pic>
        <p:nvPicPr>
          <p:cNvPr id="15" name="studio-image-14" descr="preencoded.png">    </p:cNvPr>
          <p:cNvPicPr>
            <a:picLocks noChangeAspect="1"/>
          </p:cNvPicPr>
          <p:nvPr/>
        </p:nvPicPr>
        <p:blipFill>
          <a:blip r:embed="rId3"/>
          <a:srcRect l="-245" r="-245" t="0" b="0"/>
          <a:stretch/>
        </p:blipFill>
        <p:spPr>
          <a:xfrm>
            <a:off x="812800" y="8356600"/>
            <a:ext cx="355600" cy="355600"/>
          </a:xfrm>
          <a:prstGeom prst="rect">
            <a:avLst/>
          </a:prstGeom>
        </p:spPr>
      </p:pic>
      <p:sp>
        <p:nvSpPr>
          <p:cNvPr id="16" name="studio-text-15"/>
          <p:cNvSpPr/>
          <p:nvPr/>
        </p:nvSpPr>
        <p:spPr>
          <a:xfrm>
            <a:off x="1397000" y="8407400"/>
            <a:ext cx="90170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5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HKMA K S Lo College Tech in Ed Task Force</a:t>
            </a:r>
            <a:endParaRPr lang="en-US" sz="1500" dirty="0"/>
          </a:p>
        </p:txBody>
      </p:sp>
      <p:sp>
        <p:nvSpPr>
          <p:cNvPr id="17" name="studio-text-16"/>
          <p:cNvSpPr/>
          <p:nvPr/>
        </p:nvSpPr>
        <p:spPr>
          <a:xfrm>
            <a:off x="12192000" y="8407400"/>
            <a:ext cx="21590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5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Oct 2026</a:t>
            </a:r>
            <a:endParaRPr lang="en-US" sz="1500" dirty="0"/>
          </a:p>
        </p:txBody>
      </p:sp>
      <p:sp>
        <p:nvSpPr>
          <p:cNvPr id="18" name="studio-text-17"/>
          <p:cNvSpPr/>
          <p:nvPr/>
        </p:nvSpPr>
        <p:spPr>
          <a:xfrm>
            <a:off x="14859000" y="8407400"/>
            <a:ext cx="6350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5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emini-notebook-logo" descr="preencoded.png">    </p:cNvPr>
          <p:cNvPicPr>
            <a:picLocks noChangeAspect="1"/>
          </p:cNvPicPr>
          <p:nvPr/>
        </p:nvPicPr>
        <p:blipFill>
          <a:blip r:embed="rId1"/>
          <a:srcRect l="0" r="0" t="-90" b="-90"/>
          <a:stretch/>
        </p:blipFill>
        <p:spPr>
          <a:xfrm>
            <a:off x="12192000" y="381000"/>
            <a:ext cx="3302000" cy="281940"/>
          </a:xfrm>
          <a:prstGeom prst="rect">
            <a:avLst/>
          </a:prstGeom>
        </p:spPr>
      </p:pic>
      <p:sp>
        <p:nvSpPr>
          <p:cNvPr id="3" name="access-text-2"/>
          <p:cNvSpPr/>
          <p:nvPr/>
        </p:nvSpPr>
        <p:spPr>
          <a:xfrm>
            <a:off x="762000" y="952500"/>
            <a:ext cx="14732000" cy="1054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5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our school route</a:t>
            </a:r>
            <a:endParaRPr lang="en-US" sz="5800" dirty="0"/>
          </a:p>
        </p:txBody>
      </p:sp>
      <p:sp>
        <p:nvSpPr>
          <p:cNvPr id="4" name="access-text-3"/>
          <p:cNvSpPr/>
          <p:nvPr/>
        </p:nvSpPr>
        <p:spPr>
          <a:xfrm>
            <a:off x="762000" y="2324100"/>
            <a:ext cx="14732000" cy="1003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5000" b="1" u="sng" dirty="0">
                <a:solidFill>
                  <a:srgbClr val="E74627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kslo.tech/nb-teachers</a:t>
            </a:r>
            <a:endParaRPr lang="en-US" sz="5000" dirty="0"/>
          </a:p>
        </p:txBody>
      </p:sp>
      <p:sp>
        <p:nvSpPr>
          <p:cNvPr id="5" name="access-shape-4"/>
          <p:cNvSpPr/>
          <p:nvPr/>
        </p:nvSpPr>
        <p:spPr>
          <a:xfrm>
            <a:off x="762000" y="3594100"/>
            <a:ext cx="14732000" cy="9144"/>
          </a:xfrm>
          <a:prstGeom prst="line">
            <a:avLst/>
          </a:prstGeom>
          <a:ln w="25400">
            <a:solidFill>
              <a:srgbClr val="111111"/>
            </a:solidFill>
            <a:prstDash val="solid"/>
          </a:ln>
        </p:spPr>
      </p:sp>
      <p:sp>
        <p:nvSpPr>
          <p:cNvPr id="6" name="access-text-5"/>
          <p:cNvSpPr/>
          <p:nvPr/>
        </p:nvSpPr>
        <p:spPr>
          <a:xfrm>
            <a:off x="762000" y="4216400"/>
            <a:ext cx="10477500" cy="322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160"/>
              </a:lnSpc>
              <a:spcAft>
                <a:spcPts val="2600"/>
              </a:spcAft>
              <a:buNone/>
            </a:pPr>
            <a:r>
              <a:rPr lang="en-US" altLang="en-US" sz="3200" b="1" dirty="0">
                <a:solidFill>
                  <a:srgbClr val="E746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r>
              <a:rPr lang="en-US" alt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Open kslo.tech/nb-teachers.</a:t>
            </a:r>
            <a:endParaRPr lang="en-US" sz="3200" dirty="0"/>
          </a:p>
          <a:p>
            <a:pPr algn="l" indent="0" marL="0">
              <a:lnSpc>
                <a:spcPts val="4160"/>
              </a:lnSpc>
              <a:spcAft>
                <a:spcPts val="2600"/>
              </a:spcAft>
              <a:buNone/>
            </a:pPr>
            <a:r>
              <a:rPr lang="en-US" altLang="en-US" sz="3200" b="1" dirty="0">
                <a:solidFill>
                  <a:srgbClr val="E746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r>
              <a:rPr lang="en-US" alt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Use the school’s link—not a retail tutorial link.</a:t>
            </a:r>
            <a:endParaRPr lang="en-US" sz="3200" dirty="0"/>
          </a:p>
          <a:p>
            <a:pPr algn="l" indent="0" marL="0">
              <a:lnSpc>
                <a:spcPts val="4160"/>
              </a:lnSpc>
              <a:buNone/>
            </a:pPr>
            <a:r>
              <a:rPr lang="en-US" altLang="en-US" sz="3200" b="1" dirty="0">
                <a:solidFill>
                  <a:srgbClr val="E746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r>
              <a:rPr lang="en-US" alt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Sign in with your school </a:t>
            </a:r>
            <a:r>
              <a:rPr lang="en-US" altLang="en-US" sz="3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apps</a:t>
            </a:r>
            <a:r>
              <a:rPr lang="en-US" alt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email account.</a:t>
            </a:r>
            <a:endParaRPr lang="en-US" sz="3200" dirty="0"/>
          </a:p>
        </p:txBody>
      </p:sp>
      <p:pic>
        <p:nvPicPr>
          <p:cNvPr id="7" name="access-image-6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11874500" y="4216400"/>
            <a:ext cx="3619500" cy="3619500"/>
          </a:xfrm>
          <a:prstGeom prst="rect">
            <a:avLst/>
          </a:prstGeom>
        </p:spPr>
      </p:pic>
      <p:sp>
        <p:nvSpPr>
          <p:cNvPr id="8" name="access-shape-7"/>
          <p:cNvSpPr/>
          <p:nvPr/>
        </p:nvSpPr>
        <p:spPr>
          <a:xfrm>
            <a:off x="762000" y="8102600"/>
            <a:ext cx="14732000" cy="9144"/>
          </a:xfrm>
          <a:prstGeom prst="line">
            <a:avLst/>
          </a:prstGeom>
          <a:ln w="12700">
            <a:solidFill>
              <a:srgbClr val="CCCCC5"/>
            </a:solidFill>
            <a:prstDash val="solid"/>
          </a:ln>
        </p:spPr>
      </p:sp>
      <p:sp>
        <p:nvSpPr>
          <p:cNvPr id="9" name="access-shape-8"/>
          <p:cNvSpPr/>
          <p:nvPr/>
        </p:nvSpPr>
        <p:spPr>
          <a:xfrm>
            <a:off x="762000" y="8305800"/>
            <a:ext cx="457200" cy="457200"/>
          </a:xfrm>
          <a:prstGeom prst="roundRect">
            <a:avLst>
              <a:gd name="adj" fmla="val 19444"/>
            </a:avLst>
          </a:prstGeom>
          <a:ln w="19050">
            <a:solidFill>
              <a:srgbClr val="E74627"/>
            </a:solidFill>
            <a:prstDash val="solid"/>
          </a:ln>
        </p:spPr>
      </p:sp>
      <p:pic>
        <p:nvPicPr>
          <p:cNvPr id="10" name="access-image-9" descr="preencoded.png">    </p:cNvPr>
          <p:cNvPicPr>
            <a:picLocks noChangeAspect="1"/>
          </p:cNvPicPr>
          <p:nvPr/>
        </p:nvPicPr>
        <p:blipFill>
          <a:blip r:embed="rId4"/>
          <a:srcRect l="-245" r="-245" t="0" b="0"/>
          <a:stretch/>
        </p:blipFill>
        <p:spPr>
          <a:xfrm>
            <a:off x="812800" y="8356600"/>
            <a:ext cx="355600" cy="355600"/>
          </a:xfrm>
          <a:prstGeom prst="rect">
            <a:avLst/>
          </a:prstGeom>
        </p:spPr>
      </p:pic>
      <p:sp>
        <p:nvSpPr>
          <p:cNvPr id="11" name="access-text-10"/>
          <p:cNvSpPr/>
          <p:nvPr/>
        </p:nvSpPr>
        <p:spPr>
          <a:xfrm>
            <a:off x="1397000" y="8407400"/>
            <a:ext cx="90170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5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HKMA K S Lo College Tech in Ed Task Force</a:t>
            </a:r>
            <a:endParaRPr lang="en-US" sz="1500" dirty="0"/>
          </a:p>
        </p:txBody>
      </p:sp>
      <p:sp>
        <p:nvSpPr>
          <p:cNvPr id="12" name="access-text-11"/>
          <p:cNvSpPr/>
          <p:nvPr/>
        </p:nvSpPr>
        <p:spPr>
          <a:xfrm>
            <a:off x="12192000" y="8407400"/>
            <a:ext cx="21590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5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Oct 2026</a:t>
            </a:r>
            <a:endParaRPr lang="en-US" sz="1500" dirty="0"/>
          </a:p>
        </p:txBody>
      </p:sp>
      <p:sp>
        <p:nvSpPr>
          <p:cNvPr id="13" name="access-text-12"/>
          <p:cNvSpPr/>
          <p:nvPr/>
        </p:nvSpPr>
        <p:spPr>
          <a:xfrm>
            <a:off x="14859000" y="8407400"/>
            <a:ext cx="6350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5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emini-notebook-logo" descr="preencoded.png">    </p:cNvPr>
          <p:cNvPicPr>
            <a:picLocks noChangeAspect="1"/>
          </p:cNvPicPr>
          <p:nvPr/>
        </p:nvPicPr>
        <p:blipFill>
          <a:blip r:embed="rId1"/>
          <a:srcRect l="0" r="0" t="-90" b="-90"/>
          <a:stretch/>
        </p:blipFill>
        <p:spPr>
          <a:xfrm>
            <a:off x="12192000" y="381000"/>
            <a:ext cx="3302000" cy="281940"/>
          </a:xfrm>
          <a:prstGeom prst="rect">
            <a:avLst/>
          </a:prstGeom>
        </p:spPr>
      </p:pic>
      <p:sp>
        <p:nvSpPr>
          <p:cNvPr id="3" name="editions-text-2"/>
          <p:cNvSpPr/>
          <p:nvPr/>
        </p:nvSpPr>
        <p:spPr>
          <a:xfrm>
            <a:off x="762000" y="889000"/>
            <a:ext cx="14732000" cy="176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724"/>
              </a:lnSpc>
              <a:buNone/>
            </a:pPr>
            <a:r>
              <a:rPr lang="en-US" altLang="en-US" sz="5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 is a different service—</a:t>
            </a:r>
            <a:endParaRPr lang="en-US" sz="5400" dirty="0"/>
          </a:p>
          <a:p>
            <a:pPr algn="l" indent="0" marL="0">
              <a:lnSpc>
                <a:spcPts val="5724"/>
              </a:lnSpc>
              <a:buNone/>
            </a:pPr>
            <a:r>
              <a:rPr lang="en-US" altLang="en-US" sz="5400" b="1" dirty="0">
                <a:solidFill>
                  <a:srgbClr val="E746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just “paid retail”.</a:t>
            </a:r>
            <a:endParaRPr lang="en-US" sz="5400" dirty="0"/>
          </a:p>
        </p:txBody>
      </p:sp>
      <p:sp>
        <p:nvSpPr>
          <p:cNvPr id="4" name="editions-shape-3"/>
          <p:cNvSpPr/>
          <p:nvPr/>
        </p:nvSpPr>
        <p:spPr>
          <a:xfrm>
            <a:off x="762000" y="3098800"/>
            <a:ext cx="14732000" cy="9144"/>
          </a:xfrm>
          <a:prstGeom prst="line">
            <a:avLst/>
          </a:prstGeom>
          <a:ln w="25400">
            <a:solidFill>
              <a:srgbClr val="111111"/>
            </a:solidFill>
            <a:prstDash val="solid"/>
          </a:ln>
        </p:spPr>
      </p:sp>
      <p:sp>
        <p:nvSpPr>
          <p:cNvPr id="5" name="editions-text-4"/>
          <p:cNvSpPr/>
          <p:nvPr/>
        </p:nvSpPr>
        <p:spPr>
          <a:xfrm>
            <a:off x="762000" y="3657600"/>
            <a:ext cx="14732000" cy="2476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610"/>
              </a:lnSpc>
              <a:buNone/>
            </a:pPr>
            <a:r>
              <a:rPr lang="en-US" altLang="en-US" sz="3400" b="1" dirty="0">
                <a:solidFill>
                  <a:srgbClr val="E746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r>
              <a:rPr lang="en-US" altLang="en-US" sz="34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School-managed access and sharing.</a:t>
            </a:r>
            <a:endParaRPr lang="en-US" sz="3400" dirty="0"/>
          </a:p>
          <a:p>
            <a:pPr algn="l" indent="0" marL="0">
              <a:lnSpc>
                <a:spcPts val="5610"/>
              </a:lnSpc>
              <a:buNone/>
            </a:pPr>
            <a:r>
              <a:rPr lang="en-US" altLang="en-US" sz="3400" b="1" dirty="0">
                <a:solidFill>
                  <a:srgbClr val="E746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r>
              <a:rPr lang="en-US" altLang="en-US" sz="34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Google Cloud data protections.</a:t>
            </a:r>
            <a:endParaRPr lang="en-US" sz="3400" dirty="0"/>
          </a:p>
          <a:p>
            <a:pPr algn="l" indent="0" marL="0">
              <a:lnSpc>
                <a:spcPts val="5610"/>
              </a:lnSpc>
              <a:buNone/>
            </a:pPr>
            <a:r>
              <a:rPr lang="en-US" altLang="en-US" sz="3400" b="1" dirty="0">
                <a:solidFill>
                  <a:srgbClr val="E746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r>
              <a:rPr lang="en-US" altLang="en-US" sz="34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Features can differ by version and region.</a:t>
            </a:r>
            <a:endParaRPr lang="en-US" sz="3400" dirty="0"/>
          </a:p>
        </p:txBody>
      </p:sp>
      <p:sp>
        <p:nvSpPr>
          <p:cNvPr id="6" name="editions-shape-5"/>
          <p:cNvSpPr/>
          <p:nvPr/>
        </p:nvSpPr>
        <p:spPr>
          <a:xfrm>
            <a:off x="762000" y="6553200"/>
            <a:ext cx="14732000" cy="9144"/>
          </a:xfrm>
          <a:prstGeom prst="line">
            <a:avLst/>
          </a:prstGeom>
          <a:ln w="12700">
            <a:solidFill>
              <a:srgbClr val="CCCCC5"/>
            </a:solidFill>
            <a:prstDash val="solid"/>
          </a:ln>
        </p:spPr>
      </p:sp>
      <p:sp>
        <p:nvSpPr>
          <p:cNvPr id="7" name="editions-text-6"/>
          <p:cNvSpPr/>
          <p:nvPr/>
        </p:nvSpPr>
        <p:spPr>
          <a:xfrm>
            <a:off x="762000" y="6997700"/>
            <a:ext cx="14732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6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Personal / retail ≠ Workspace / Education ≠ Cloud Enterprise</a:t>
            </a:r>
            <a:endParaRPr lang="en-US" sz="2600" dirty="0"/>
          </a:p>
        </p:txBody>
      </p:sp>
      <p:sp>
        <p:nvSpPr>
          <p:cNvPr id="8" name="editions-shape-7"/>
          <p:cNvSpPr/>
          <p:nvPr/>
        </p:nvSpPr>
        <p:spPr>
          <a:xfrm>
            <a:off x="762000" y="8102600"/>
            <a:ext cx="14732000" cy="9144"/>
          </a:xfrm>
          <a:prstGeom prst="line">
            <a:avLst/>
          </a:prstGeom>
          <a:ln w="12700">
            <a:solidFill>
              <a:srgbClr val="CCCCC5"/>
            </a:solidFill>
            <a:prstDash val="solid"/>
          </a:ln>
        </p:spPr>
      </p:sp>
      <p:sp>
        <p:nvSpPr>
          <p:cNvPr id="9" name="editions-shape-8"/>
          <p:cNvSpPr/>
          <p:nvPr/>
        </p:nvSpPr>
        <p:spPr>
          <a:xfrm>
            <a:off x="762000" y="8305800"/>
            <a:ext cx="457200" cy="457200"/>
          </a:xfrm>
          <a:prstGeom prst="roundRect">
            <a:avLst>
              <a:gd name="adj" fmla="val 19444"/>
            </a:avLst>
          </a:prstGeom>
          <a:ln w="19050">
            <a:solidFill>
              <a:srgbClr val="E74627"/>
            </a:solidFill>
            <a:prstDash val="solid"/>
          </a:ln>
        </p:spPr>
      </p:sp>
      <p:pic>
        <p:nvPicPr>
          <p:cNvPr id="10" name="editions-image-9" descr="preencoded.png">    </p:cNvPr>
          <p:cNvPicPr>
            <a:picLocks noChangeAspect="1"/>
          </p:cNvPicPr>
          <p:nvPr/>
        </p:nvPicPr>
        <p:blipFill>
          <a:blip r:embed="rId2"/>
          <a:srcRect l="-245" r="-245" t="0" b="0"/>
          <a:stretch/>
        </p:blipFill>
        <p:spPr>
          <a:xfrm>
            <a:off x="812800" y="8356600"/>
            <a:ext cx="355600" cy="355600"/>
          </a:xfrm>
          <a:prstGeom prst="rect">
            <a:avLst/>
          </a:prstGeom>
        </p:spPr>
      </p:pic>
      <p:sp>
        <p:nvSpPr>
          <p:cNvPr id="11" name="editions-text-10"/>
          <p:cNvSpPr/>
          <p:nvPr/>
        </p:nvSpPr>
        <p:spPr>
          <a:xfrm>
            <a:off x="1397000" y="8407400"/>
            <a:ext cx="90170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5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HKMA K S Lo College Tech in Ed Task Force</a:t>
            </a:r>
            <a:endParaRPr lang="en-US" sz="1500" dirty="0"/>
          </a:p>
        </p:txBody>
      </p:sp>
      <p:sp>
        <p:nvSpPr>
          <p:cNvPr id="12" name="editions-text-11"/>
          <p:cNvSpPr/>
          <p:nvPr/>
        </p:nvSpPr>
        <p:spPr>
          <a:xfrm>
            <a:off x="12192000" y="8407400"/>
            <a:ext cx="21590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5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Oct 2026</a:t>
            </a:r>
            <a:endParaRPr lang="en-US" sz="1500" dirty="0"/>
          </a:p>
        </p:txBody>
      </p:sp>
      <p:sp>
        <p:nvSpPr>
          <p:cNvPr id="13" name="editions-text-12"/>
          <p:cNvSpPr/>
          <p:nvPr/>
        </p:nvSpPr>
        <p:spPr>
          <a:xfrm>
            <a:off x="14859000" y="8407400"/>
            <a:ext cx="6350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5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emini-notebook-logo" descr="preencoded.png">    </p:cNvPr>
          <p:cNvPicPr>
            <a:picLocks noChangeAspect="1"/>
          </p:cNvPicPr>
          <p:nvPr/>
        </p:nvPicPr>
        <p:blipFill>
          <a:blip r:embed="rId1"/>
          <a:srcRect l="0" r="0" t="-90" b="-90"/>
          <a:stretch/>
        </p:blipFill>
        <p:spPr>
          <a:xfrm>
            <a:off x="12192000" y="381000"/>
            <a:ext cx="3302000" cy="281940"/>
          </a:xfrm>
          <a:prstGeom prst="rect">
            <a:avLst/>
          </a:prstGeom>
        </p:spPr>
      </p:pic>
      <p:sp>
        <p:nvSpPr>
          <p:cNvPr id="3" name="safety-text-2"/>
          <p:cNvSpPr/>
          <p:nvPr/>
        </p:nvSpPr>
        <p:spPr>
          <a:xfrm>
            <a:off x="762000" y="889000"/>
            <a:ext cx="14732000" cy="177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936"/>
              </a:lnSpc>
              <a:buNone/>
            </a:pPr>
            <a:r>
              <a:rPr lang="en-US" altLang="en-US" sz="5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Safer does not mean</a:t>
            </a:r>
            <a:endParaRPr lang="en-US" sz="5600" dirty="0"/>
          </a:p>
          <a:p>
            <a:pPr algn="l" indent="0" marL="0">
              <a:lnSpc>
                <a:spcPts val="5936"/>
              </a:lnSpc>
              <a:buNone/>
            </a:pPr>
            <a:r>
              <a:rPr lang="en-US" altLang="en-US" sz="5600" b="1" dirty="0">
                <a:solidFill>
                  <a:srgbClr val="E746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“upload anything”.</a:t>
            </a:r>
            <a:endParaRPr lang="en-US" sz="5600" dirty="0"/>
          </a:p>
        </p:txBody>
      </p:sp>
      <p:sp>
        <p:nvSpPr>
          <p:cNvPr id="4" name="safety-shape-3"/>
          <p:cNvSpPr/>
          <p:nvPr/>
        </p:nvSpPr>
        <p:spPr>
          <a:xfrm>
            <a:off x="762000" y="3175000"/>
            <a:ext cx="14732000" cy="9144"/>
          </a:xfrm>
          <a:prstGeom prst="line">
            <a:avLst/>
          </a:prstGeom>
          <a:ln w="25400">
            <a:solidFill>
              <a:srgbClr val="111111"/>
            </a:solidFill>
            <a:prstDash val="solid"/>
          </a:ln>
        </p:spPr>
      </p:sp>
      <p:sp>
        <p:nvSpPr>
          <p:cNvPr id="5" name="safety-text-4"/>
          <p:cNvSpPr/>
          <p:nvPr/>
        </p:nvSpPr>
        <p:spPr>
          <a:xfrm>
            <a:off x="762000" y="3644900"/>
            <a:ext cx="14732000" cy="2324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539750" indent="-539750">
              <a:lnSpc>
                <a:spcPts val="5440"/>
              </a:lnSpc>
              <a:spcBef>
                <a:spcPts val="10"/>
              </a:spcBef>
              <a:buSzPct val="100000"/>
              <a:buChar char="•"/>
            </a:pPr>
            <a:r>
              <a:rPr lang="en-US" altLang="en-US" sz="34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approved, non-sensitive sources.</a:t>
            </a:r>
            <a:endParaRPr lang="en-US" sz="3400" dirty="0"/>
          </a:p>
          <a:p>
            <a:pPr algn="l" marL="539750" indent="-539750">
              <a:lnSpc>
                <a:spcPts val="5440"/>
              </a:lnSpc>
              <a:spcBef>
                <a:spcPts val="10"/>
              </a:spcBef>
              <a:buSzPct val="100000"/>
              <a:buChar char="•"/>
            </a:pPr>
            <a:r>
              <a:rPr lang="en-US" altLang="en-US" sz="34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sharing and citations.</a:t>
            </a:r>
            <a:endParaRPr lang="en-US" sz="3400" dirty="0"/>
          </a:p>
          <a:p>
            <a:pPr algn="l" marL="539750" indent="-539750">
              <a:lnSpc>
                <a:spcPts val="5440"/>
              </a:lnSpc>
              <a:spcBef>
                <a:spcPts val="10"/>
              </a:spcBef>
              <a:buSzPct val="100000"/>
              <a:buChar char="•"/>
            </a:pPr>
            <a:r>
              <a:rPr lang="en-US" altLang="en-US" sz="34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before teaching or grading.</a:t>
            </a:r>
            <a:endParaRPr lang="en-US" sz="3400" dirty="0"/>
          </a:p>
        </p:txBody>
      </p:sp>
      <p:sp>
        <p:nvSpPr>
          <p:cNvPr id="6" name="safety-shape-5"/>
          <p:cNvSpPr/>
          <p:nvPr/>
        </p:nvSpPr>
        <p:spPr>
          <a:xfrm>
            <a:off x="762000" y="6337300"/>
            <a:ext cx="14732000" cy="9144"/>
          </a:xfrm>
          <a:prstGeom prst="line">
            <a:avLst/>
          </a:prstGeom>
          <a:ln w="12700">
            <a:solidFill>
              <a:srgbClr val="CCCCC5"/>
            </a:solidFill>
            <a:prstDash val="solid"/>
          </a:ln>
        </p:spPr>
      </p:sp>
      <p:sp>
        <p:nvSpPr>
          <p:cNvPr id="7" name="safety-text-6"/>
          <p:cNvSpPr/>
          <p:nvPr/>
        </p:nvSpPr>
        <p:spPr>
          <a:xfrm>
            <a:off x="762000" y="6743700"/>
            <a:ext cx="14732000" cy="1155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6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terms: no model training or fine-tuning without customer permission or instruction.</a:t>
            </a:r>
            <a:endParaRPr lang="en-US" sz="2600" dirty="0"/>
          </a:p>
          <a:p>
            <a:pPr algn="l" indent="0" marL="0">
              <a:buNone/>
            </a:pPr>
            <a:r>
              <a:rPr lang="en-US" alt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School policy, privacy duties and teacher judgement still apply.</a:t>
            </a:r>
            <a:endParaRPr lang="en-US" sz="2600" dirty="0"/>
          </a:p>
        </p:txBody>
      </p:sp>
      <p:sp>
        <p:nvSpPr>
          <p:cNvPr id="8" name="safety-shape-7"/>
          <p:cNvSpPr/>
          <p:nvPr/>
        </p:nvSpPr>
        <p:spPr>
          <a:xfrm>
            <a:off x="762000" y="8102600"/>
            <a:ext cx="14732000" cy="9144"/>
          </a:xfrm>
          <a:prstGeom prst="line">
            <a:avLst/>
          </a:prstGeom>
          <a:ln w="12700">
            <a:solidFill>
              <a:srgbClr val="CCCCC5"/>
            </a:solidFill>
            <a:prstDash val="solid"/>
          </a:ln>
        </p:spPr>
      </p:sp>
      <p:sp>
        <p:nvSpPr>
          <p:cNvPr id="9" name="safety-shape-8"/>
          <p:cNvSpPr/>
          <p:nvPr/>
        </p:nvSpPr>
        <p:spPr>
          <a:xfrm>
            <a:off x="762000" y="8305800"/>
            <a:ext cx="457200" cy="457200"/>
          </a:xfrm>
          <a:prstGeom prst="roundRect">
            <a:avLst>
              <a:gd name="adj" fmla="val 19444"/>
            </a:avLst>
          </a:prstGeom>
          <a:ln w="19050">
            <a:solidFill>
              <a:srgbClr val="E74627"/>
            </a:solidFill>
            <a:prstDash val="solid"/>
          </a:ln>
        </p:spPr>
      </p:sp>
      <p:pic>
        <p:nvPicPr>
          <p:cNvPr id="10" name="safety-image-9" descr="preencoded.png">    </p:cNvPr>
          <p:cNvPicPr>
            <a:picLocks noChangeAspect="1"/>
          </p:cNvPicPr>
          <p:nvPr/>
        </p:nvPicPr>
        <p:blipFill>
          <a:blip r:embed="rId2"/>
          <a:srcRect l="-245" r="-245" t="0" b="0"/>
          <a:stretch/>
        </p:blipFill>
        <p:spPr>
          <a:xfrm>
            <a:off x="812800" y="8356600"/>
            <a:ext cx="355600" cy="355600"/>
          </a:xfrm>
          <a:prstGeom prst="rect">
            <a:avLst/>
          </a:prstGeom>
        </p:spPr>
      </p:pic>
      <p:sp>
        <p:nvSpPr>
          <p:cNvPr id="11" name="safety-text-10"/>
          <p:cNvSpPr/>
          <p:nvPr/>
        </p:nvSpPr>
        <p:spPr>
          <a:xfrm>
            <a:off x="1397000" y="8407400"/>
            <a:ext cx="90170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5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HKMA K S Lo College Tech in Ed Task Force</a:t>
            </a:r>
            <a:endParaRPr lang="en-US" sz="1500" dirty="0"/>
          </a:p>
        </p:txBody>
      </p:sp>
      <p:sp>
        <p:nvSpPr>
          <p:cNvPr id="12" name="safety-text-11"/>
          <p:cNvSpPr/>
          <p:nvPr/>
        </p:nvSpPr>
        <p:spPr>
          <a:xfrm>
            <a:off x="12192000" y="8407400"/>
            <a:ext cx="21590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5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Oct 2026</a:t>
            </a:r>
            <a:endParaRPr lang="en-US" sz="1500" dirty="0"/>
          </a:p>
        </p:txBody>
      </p:sp>
      <p:sp>
        <p:nvSpPr>
          <p:cNvPr id="13" name="safety-text-12"/>
          <p:cNvSpPr/>
          <p:nvPr/>
        </p:nvSpPr>
        <p:spPr>
          <a:xfrm>
            <a:off x="14859000" y="8407400"/>
            <a:ext cx="6350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5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emini-notebook-logo" descr="preencoded.png">    </p:cNvPr>
          <p:cNvPicPr>
            <a:picLocks noChangeAspect="1"/>
          </p:cNvPicPr>
          <p:nvPr/>
        </p:nvPicPr>
        <p:blipFill>
          <a:blip r:embed="rId1"/>
          <a:srcRect l="0" r="0" t="-90" b="-90"/>
          <a:stretch/>
        </p:blipFill>
        <p:spPr>
          <a:xfrm>
            <a:off x="12192000" y="381000"/>
            <a:ext cx="3302000" cy="281940"/>
          </a:xfrm>
          <a:prstGeom prst="rect">
            <a:avLst/>
          </a:prstGeom>
        </p:spPr>
      </p:pic>
      <p:sp>
        <p:nvSpPr>
          <p:cNvPr id="3" name="expectations-text-2"/>
          <p:cNvSpPr/>
          <p:nvPr/>
        </p:nvSpPr>
        <p:spPr>
          <a:xfrm>
            <a:off x="762000" y="889000"/>
            <a:ext cx="14732000" cy="1790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042"/>
              </a:lnSpc>
              <a:buNone/>
            </a:pPr>
            <a:r>
              <a:rPr lang="en-US" altLang="en-US" sz="5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do versions</a:t>
            </a:r>
            <a:endParaRPr lang="en-US" sz="5700" dirty="0"/>
          </a:p>
          <a:p>
            <a:pPr algn="l" indent="0" marL="0">
              <a:lnSpc>
                <a:spcPts val="6042"/>
              </a:lnSpc>
              <a:buNone/>
            </a:pPr>
            <a:r>
              <a:rPr lang="en-US" altLang="en-US" sz="5700" b="1" dirty="0">
                <a:solidFill>
                  <a:srgbClr val="E746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feel different?</a:t>
            </a:r>
            <a:endParaRPr lang="en-US" sz="5700" dirty="0"/>
          </a:p>
        </p:txBody>
      </p:sp>
      <p:sp>
        <p:nvSpPr>
          <p:cNvPr id="4" name="expectations-shape-3"/>
          <p:cNvSpPr/>
          <p:nvPr/>
        </p:nvSpPr>
        <p:spPr>
          <a:xfrm>
            <a:off x="762000" y="3175000"/>
            <a:ext cx="14732000" cy="9144"/>
          </a:xfrm>
          <a:prstGeom prst="line">
            <a:avLst/>
          </a:prstGeom>
          <a:ln w="25400">
            <a:solidFill>
              <a:srgbClr val="111111"/>
            </a:solidFill>
            <a:prstDash val="solid"/>
          </a:ln>
        </p:spPr>
      </p:sp>
      <p:sp>
        <p:nvSpPr>
          <p:cNvPr id="5" name="expectations-text-4"/>
          <p:cNvSpPr/>
          <p:nvPr/>
        </p:nvSpPr>
        <p:spPr>
          <a:xfrm>
            <a:off x="762000" y="3733800"/>
            <a:ext cx="14732000" cy="2463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539750" indent="-539750">
              <a:lnSpc>
                <a:spcPts val="5440"/>
              </a:lnSpc>
              <a:spcBef>
                <a:spcPts val="10"/>
              </a:spcBef>
              <a:buSzPct val="100000"/>
              <a:buChar char="•"/>
            </a:pPr>
            <a:r>
              <a:rPr lang="en-US" altLang="en-US" sz="34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Features and rollouts can differ.</a:t>
            </a:r>
            <a:endParaRPr lang="en-US" sz="3400" dirty="0"/>
          </a:p>
          <a:p>
            <a:pPr algn="l" marL="539750" indent="-539750">
              <a:lnSpc>
                <a:spcPts val="5440"/>
              </a:lnSpc>
              <a:spcBef>
                <a:spcPts val="10"/>
              </a:spcBef>
              <a:buSzPct val="100000"/>
              <a:buChar char="•"/>
            </a:pPr>
            <a:r>
              <a:rPr lang="en-US" altLang="en-US" sz="34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Some new features reach the retail version first.</a:t>
            </a:r>
            <a:endParaRPr lang="en-US" sz="3400" dirty="0"/>
          </a:p>
          <a:p>
            <a:pPr algn="l" marL="539750" indent="-539750">
              <a:lnSpc>
                <a:spcPts val="5440"/>
              </a:lnSpc>
              <a:spcBef>
                <a:spcPts val="10"/>
              </a:spcBef>
              <a:buSzPct val="100000"/>
              <a:buChar char="•"/>
            </a:pPr>
            <a:r>
              <a:rPr lang="en-US" altLang="en-US" sz="34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Enterprise version may receive these features later.</a:t>
            </a:r>
            <a:endParaRPr lang="en-US" sz="3400" dirty="0"/>
          </a:p>
        </p:txBody>
      </p:sp>
      <p:sp>
        <p:nvSpPr>
          <p:cNvPr id="6" name="expectations-shape-5"/>
          <p:cNvSpPr/>
          <p:nvPr/>
        </p:nvSpPr>
        <p:spPr>
          <a:xfrm>
            <a:off x="762000" y="6540500"/>
            <a:ext cx="14732000" cy="9144"/>
          </a:xfrm>
          <a:prstGeom prst="line">
            <a:avLst/>
          </a:prstGeom>
          <a:ln w="12700">
            <a:solidFill>
              <a:srgbClr val="CCCCC5"/>
            </a:solidFill>
            <a:prstDash val="solid"/>
          </a:ln>
        </p:spPr>
      </p:sp>
      <p:sp>
        <p:nvSpPr>
          <p:cNvPr id="7" name="expectations-text-6"/>
          <p:cNvSpPr/>
          <p:nvPr/>
        </p:nvSpPr>
        <p:spPr>
          <a:xfrm>
            <a:off x="762000" y="6883400"/>
            <a:ext cx="14732000" cy="1054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50"/>
              </a:lnSpc>
              <a:buNone/>
            </a:pPr>
            <a:r>
              <a:rPr lang="en-US" altLang="en-US" sz="2600" b="1" dirty="0">
                <a:solidFill>
                  <a:srgbClr val="E746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Unofficial explanation:</a:t>
            </a:r>
            <a:endParaRPr lang="en-US" sz="2600" dirty="0"/>
          </a:p>
          <a:p>
            <a:pPr algn="l" indent="0" marL="0">
              <a:lnSpc>
                <a:spcPts val="3250"/>
              </a:lnSpc>
              <a:buNone/>
            </a:pPr>
            <a:r>
              <a:rPr lang="en-US" altLang="en-US" sz="26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Features may undergo additional stability testing before Enterprise release.</a:t>
            </a:r>
            <a:endParaRPr lang="en-US" sz="2600" dirty="0"/>
          </a:p>
        </p:txBody>
      </p:sp>
      <p:sp>
        <p:nvSpPr>
          <p:cNvPr id="8" name="expectations-shape-7"/>
          <p:cNvSpPr/>
          <p:nvPr/>
        </p:nvSpPr>
        <p:spPr>
          <a:xfrm>
            <a:off x="762000" y="8102600"/>
            <a:ext cx="14732000" cy="9144"/>
          </a:xfrm>
          <a:prstGeom prst="line">
            <a:avLst/>
          </a:prstGeom>
          <a:ln w="12700">
            <a:solidFill>
              <a:srgbClr val="CCCCC5"/>
            </a:solidFill>
            <a:prstDash val="solid"/>
          </a:ln>
        </p:spPr>
      </p:sp>
      <p:sp>
        <p:nvSpPr>
          <p:cNvPr id="9" name="expectations-shape-8"/>
          <p:cNvSpPr/>
          <p:nvPr/>
        </p:nvSpPr>
        <p:spPr>
          <a:xfrm>
            <a:off x="762000" y="8305800"/>
            <a:ext cx="457200" cy="457200"/>
          </a:xfrm>
          <a:prstGeom prst="roundRect">
            <a:avLst>
              <a:gd name="adj" fmla="val 19444"/>
            </a:avLst>
          </a:prstGeom>
          <a:ln w="19050">
            <a:solidFill>
              <a:srgbClr val="E74627"/>
            </a:solidFill>
            <a:prstDash val="solid"/>
          </a:ln>
        </p:spPr>
      </p:sp>
      <p:pic>
        <p:nvPicPr>
          <p:cNvPr id="10" name="expectations-image-9" descr="preencoded.png">    </p:cNvPr>
          <p:cNvPicPr>
            <a:picLocks noChangeAspect="1"/>
          </p:cNvPicPr>
          <p:nvPr/>
        </p:nvPicPr>
        <p:blipFill>
          <a:blip r:embed="rId2"/>
          <a:srcRect l="-245" r="-245" t="0" b="0"/>
          <a:stretch/>
        </p:blipFill>
        <p:spPr>
          <a:xfrm>
            <a:off x="812800" y="8356600"/>
            <a:ext cx="355600" cy="355600"/>
          </a:xfrm>
          <a:prstGeom prst="rect">
            <a:avLst/>
          </a:prstGeom>
        </p:spPr>
      </p:pic>
      <p:sp>
        <p:nvSpPr>
          <p:cNvPr id="11" name="expectations-text-10"/>
          <p:cNvSpPr/>
          <p:nvPr/>
        </p:nvSpPr>
        <p:spPr>
          <a:xfrm>
            <a:off x="1397000" y="8407400"/>
            <a:ext cx="90170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5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HKMA K S Lo College Tech in Ed Task Force</a:t>
            </a:r>
            <a:endParaRPr lang="en-US" sz="1500" dirty="0"/>
          </a:p>
        </p:txBody>
      </p:sp>
      <p:sp>
        <p:nvSpPr>
          <p:cNvPr id="12" name="expectations-text-11"/>
          <p:cNvSpPr/>
          <p:nvPr/>
        </p:nvSpPr>
        <p:spPr>
          <a:xfrm>
            <a:off x="12192000" y="8407400"/>
            <a:ext cx="21590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5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Oct 2026</a:t>
            </a:r>
            <a:endParaRPr lang="en-US" sz="1500" dirty="0"/>
          </a:p>
        </p:txBody>
      </p:sp>
      <p:sp>
        <p:nvSpPr>
          <p:cNvPr id="13" name="expectations-text-12"/>
          <p:cNvSpPr/>
          <p:nvPr/>
        </p:nvSpPr>
        <p:spPr>
          <a:xfrm>
            <a:off x="14859000" y="8407400"/>
            <a:ext cx="6350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5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emini-notebook-logo" descr="preencoded.png">    </p:cNvPr>
          <p:cNvPicPr>
            <a:picLocks noChangeAspect="1"/>
          </p:cNvPicPr>
          <p:nvPr/>
        </p:nvPicPr>
        <p:blipFill>
          <a:blip r:embed="rId1"/>
          <a:srcRect l="0" r="0" t="-90" b="-90"/>
          <a:stretch/>
        </p:blipFill>
        <p:spPr>
          <a:xfrm>
            <a:off x="12192000" y="381000"/>
            <a:ext cx="3302000" cy="281940"/>
          </a:xfrm>
          <a:prstGeom prst="rect">
            <a:avLst/>
          </a:prstGeom>
        </p:spPr>
      </p:pic>
      <p:sp>
        <p:nvSpPr>
          <p:cNvPr id="3" name="notebook_setup-text-2"/>
          <p:cNvSpPr/>
          <p:nvPr/>
        </p:nvSpPr>
        <p:spPr>
          <a:xfrm>
            <a:off x="762000" y="889000"/>
            <a:ext cx="14732000" cy="1790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042"/>
              </a:lnSpc>
              <a:buNone/>
            </a:pPr>
            <a:r>
              <a:rPr lang="en-US" altLang="en-US" sz="5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a new notebook.</a:t>
            </a:r>
            <a:endParaRPr lang="en-US" sz="5700" dirty="0"/>
          </a:p>
          <a:p>
            <a:pPr algn="l" indent="0" marL="0">
              <a:lnSpc>
                <a:spcPts val="6042"/>
              </a:lnSpc>
              <a:buNone/>
            </a:pPr>
            <a:r>
              <a:rPr lang="en-US" altLang="en-US" sz="5700" b="1" dirty="0">
                <a:solidFill>
                  <a:srgbClr val="E746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the workshop documents.</a:t>
            </a:r>
            <a:endParaRPr lang="en-US" sz="5700" dirty="0"/>
          </a:p>
        </p:txBody>
      </p:sp>
      <p:sp>
        <p:nvSpPr>
          <p:cNvPr id="4" name="notebook_setup-shape-3"/>
          <p:cNvSpPr/>
          <p:nvPr/>
        </p:nvSpPr>
        <p:spPr>
          <a:xfrm>
            <a:off x="762000" y="3136900"/>
            <a:ext cx="14732000" cy="9144"/>
          </a:xfrm>
          <a:prstGeom prst="line">
            <a:avLst/>
          </a:prstGeom>
          <a:ln w="25400">
            <a:solidFill>
              <a:srgbClr val="111111"/>
            </a:solidFill>
            <a:prstDash val="solid"/>
          </a:ln>
        </p:spPr>
      </p:sp>
      <p:sp>
        <p:nvSpPr>
          <p:cNvPr id="5" name="notebook_setup-shape-4"/>
          <p:cNvSpPr/>
          <p:nvPr/>
        </p:nvSpPr>
        <p:spPr>
          <a:xfrm>
            <a:off x="8280400" y="3556000"/>
            <a:ext cx="9144" cy="4051300"/>
          </a:xfrm>
          <a:prstGeom prst="line">
            <a:avLst/>
          </a:prstGeom>
          <a:ln w="12700">
            <a:solidFill>
              <a:srgbClr val="CCCCC5"/>
            </a:solidFill>
            <a:prstDash val="solid"/>
          </a:ln>
        </p:spPr>
      </p:sp>
      <p:sp>
        <p:nvSpPr>
          <p:cNvPr id="6" name="notebook_setup-text-5"/>
          <p:cNvSpPr/>
          <p:nvPr/>
        </p:nvSpPr>
        <p:spPr>
          <a:xfrm>
            <a:off x="762000" y="3632200"/>
            <a:ext cx="7366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3400" b="1" dirty="0">
                <a:solidFill>
                  <a:srgbClr val="E746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3400" dirty="0"/>
          </a:p>
        </p:txBody>
      </p:sp>
      <p:sp>
        <p:nvSpPr>
          <p:cNvPr id="7" name="notebook_setup-text-6"/>
          <p:cNvSpPr/>
          <p:nvPr/>
        </p:nvSpPr>
        <p:spPr>
          <a:xfrm>
            <a:off x="1676400" y="3695700"/>
            <a:ext cx="61595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3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a new notebook.</a:t>
            </a:r>
            <a:endParaRPr lang="en-US" sz="3000" dirty="0"/>
          </a:p>
        </p:txBody>
      </p:sp>
      <p:sp>
        <p:nvSpPr>
          <p:cNvPr id="8" name="notebook_setup-text-7"/>
          <p:cNvSpPr/>
          <p:nvPr/>
        </p:nvSpPr>
        <p:spPr>
          <a:xfrm>
            <a:off x="762000" y="4787900"/>
            <a:ext cx="7366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3400" b="1" dirty="0">
                <a:solidFill>
                  <a:srgbClr val="E746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3400" dirty="0"/>
          </a:p>
        </p:txBody>
      </p:sp>
      <p:sp>
        <p:nvSpPr>
          <p:cNvPr id="9" name="notebook_setup-text-8"/>
          <p:cNvSpPr/>
          <p:nvPr/>
        </p:nvSpPr>
        <p:spPr>
          <a:xfrm>
            <a:off x="1676400" y="4851400"/>
            <a:ext cx="6159500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750"/>
              </a:lnSpc>
              <a:buNone/>
            </a:pPr>
            <a:r>
              <a:rPr lang="en-US" altLang="en-US" sz="3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 it:</a:t>
            </a:r>
            <a:endParaRPr lang="en-US" sz="3000" dirty="0"/>
          </a:p>
          <a:p>
            <a:pPr algn="l" indent="0" marL="0">
              <a:lnSpc>
                <a:spcPts val="3750"/>
              </a:lnSpc>
              <a:buNone/>
            </a:pPr>
            <a:r>
              <a:rPr lang="en-US" altLang="en-US" sz="30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Digital Education Blueprint</a:t>
            </a:r>
            <a:endParaRPr lang="en-US" sz="3000" dirty="0"/>
          </a:p>
        </p:txBody>
      </p:sp>
      <p:sp>
        <p:nvSpPr>
          <p:cNvPr id="10" name="notebook_setup-text-9"/>
          <p:cNvSpPr/>
          <p:nvPr/>
        </p:nvSpPr>
        <p:spPr>
          <a:xfrm>
            <a:off x="762000" y="6438900"/>
            <a:ext cx="7366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3400" b="1" dirty="0">
                <a:solidFill>
                  <a:srgbClr val="E746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3400" dirty="0"/>
          </a:p>
        </p:txBody>
      </p:sp>
      <p:sp>
        <p:nvSpPr>
          <p:cNvPr id="11" name="notebook_setup-text-10"/>
          <p:cNvSpPr/>
          <p:nvPr/>
        </p:nvSpPr>
        <p:spPr>
          <a:xfrm>
            <a:off x="1676400" y="6502400"/>
            <a:ext cx="6159500" cy="1282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750"/>
              </a:lnSpc>
              <a:buNone/>
            </a:pPr>
            <a:r>
              <a:rPr lang="en-US" altLang="en-US" sz="3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Upload both PDFs.</a:t>
            </a:r>
            <a:endParaRPr lang="en-US" sz="3000" dirty="0"/>
          </a:p>
          <a:p>
            <a:pPr algn="l" indent="0" marL="0">
              <a:lnSpc>
                <a:spcPts val="3750"/>
              </a:lnSpc>
              <a:buNone/>
            </a:pPr>
            <a:r>
              <a:rPr lang="en-US" altLang="en-US" sz="3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Wait until the sources are ready.</a:t>
            </a:r>
            <a:endParaRPr lang="en-US" sz="3000" dirty="0"/>
          </a:p>
        </p:txBody>
      </p:sp>
      <p:sp>
        <p:nvSpPr>
          <p:cNvPr id="12" name="notebook_setup-text-11"/>
          <p:cNvSpPr/>
          <p:nvPr/>
        </p:nvSpPr>
        <p:spPr>
          <a:xfrm>
            <a:off x="8890000" y="3695700"/>
            <a:ext cx="6604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800" b="1" dirty="0">
                <a:solidFill>
                  <a:srgbClr val="E746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Chinese version</a:t>
            </a:r>
            <a:endParaRPr lang="en-US" sz="2800" dirty="0"/>
          </a:p>
        </p:txBody>
      </p:sp>
      <p:sp>
        <p:nvSpPr>
          <p:cNvPr id="13" name="notebook_setup-text-12"/>
          <p:cNvSpPr/>
          <p:nvPr/>
        </p:nvSpPr>
        <p:spPr>
          <a:xfrm>
            <a:off x="8890000" y="4381500"/>
            <a:ext cx="66040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25"/>
              </a:lnSpc>
              <a:buNone/>
            </a:pPr>
            <a:r>
              <a:rPr lang="en-US" altLang="en-US" sz="25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DigitalEducationBlueprint(Chinese).pdf</a:t>
            </a:r>
            <a:endParaRPr lang="en-US" sz="2500" dirty="0"/>
          </a:p>
        </p:txBody>
      </p:sp>
      <p:sp>
        <p:nvSpPr>
          <p:cNvPr id="14" name="notebook_setup-shape-13"/>
          <p:cNvSpPr/>
          <p:nvPr/>
        </p:nvSpPr>
        <p:spPr>
          <a:xfrm>
            <a:off x="8890000" y="5600700"/>
            <a:ext cx="6604000" cy="9144"/>
          </a:xfrm>
          <a:prstGeom prst="line">
            <a:avLst/>
          </a:prstGeom>
          <a:ln w="12700">
            <a:solidFill>
              <a:srgbClr val="CCCCC5"/>
            </a:solidFill>
            <a:prstDash val="solid"/>
          </a:ln>
        </p:spPr>
      </p:sp>
      <p:sp>
        <p:nvSpPr>
          <p:cNvPr id="15" name="notebook_setup-text-14"/>
          <p:cNvSpPr/>
          <p:nvPr/>
        </p:nvSpPr>
        <p:spPr>
          <a:xfrm>
            <a:off x="8890000" y="5981700"/>
            <a:ext cx="6604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800" b="1" dirty="0">
                <a:solidFill>
                  <a:srgbClr val="E746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English version</a:t>
            </a:r>
            <a:endParaRPr lang="en-US" sz="2800" dirty="0"/>
          </a:p>
        </p:txBody>
      </p:sp>
      <p:sp>
        <p:nvSpPr>
          <p:cNvPr id="16" name="notebook_setup-text-15"/>
          <p:cNvSpPr/>
          <p:nvPr/>
        </p:nvSpPr>
        <p:spPr>
          <a:xfrm>
            <a:off x="8890000" y="6667500"/>
            <a:ext cx="66040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25"/>
              </a:lnSpc>
              <a:buNone/>
            </a:pPr>
            <a:r>
              <a:rPr lang="en-US" altLang="en-US" sz="25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DigitalEducationBlueprint(English).pdf</a:t>
            </a:r>
            <a:endParaRPr lang="en-US" sz="2500" dirty="0"/>
          </a:p>
        </p:txBody>
      </p:sp>
      <p:sp>
        <p:nvSpPr>
          <p:cNvPr id="17" name="notebook_setup-shape-16"/>
          <p:cNvSpPr/>
          <p:nvPr/>
        </p:nvSpPr>
        <p:spPr>
          <a:xfrm>
            <a:off x="762000" y="8102600"/>
            <a:ext cx="14732000" cy="9144"/>
          </a:xfrm>
          <a:prstGeom prst="line">
            <a:avLst/>
          </a:prstGeom>
          <a:ln w="12700">
            <a:solidFill>
              <a:srgbClr val="CCCCC5"/>
            </a:solidFill>
            <a:prstDash val="solid"/>
          </a:ln>
        </p:spPr>
      </p:sp>
      <p:sp>
        <p:nvSpPr>
          <p:cNvPr id="18" name="notebook_setup-shape-17"/>
          <p:cNvSpPr/>
          <p:nvPr/>
        </p:nvSpPr>
        <p:spPr>
          <a:xfrm>
            <a:off x="762000" y="8305800"/>
            <a:ext cx="457200" cy="457200"/>
          </a:xfrm>
          <a:prstGeom prst="roundRect">
            <a:avLst>
              <a:gd name="adj" fmla="val 19444"/>
            </a:avLst>
          </a:prstGeom>
          <a:ln w="19050">
            <a:solidFill>
              <a:srgbClr val="E74627"/>
            </a:solidFill>
            <a:prstDash val="solid"/>
          </a:ln>
        </p:spPr>
      </p:sp>
      <p:pic>
        <p:nvPicPr>
          <p:cNvPr id="19" name="notebook_setup-image-18" descr="preencoded.png">    </p:cNvPr>
          <p:cNvPicPr>
            <a:picLocks noChangeAspect="1"/>
          </p:cNvPicPr>
          <p:nvPr/>
        </p:nvPicPr>
        <p:blipFill>
          <a:blip r:embed="rId2"/>
          <a:srcRect l="-245" r="-245" t="0" b="0"/>
          <a:stretch/>
        </p:blipFill>
        <p:spPr>
          <a:xfrm>
            <a:off x="812800" y="8356600"/>
            <a:ext cx="355600" cy="355600"/>
          </a:xfrm>
          <a:prstGeom prst="rect">
            <a:avLst/>
          </a:prstGeom>
        </p:spPr>
      </p:pic>
      <p:sp>
        <p:nvSpPr>
          <p:cNvPr id="20" name="notebook_setup-text-19"/>
          <p:cNvSpPr/>
          <p:nvPr/>
        </p:nvSpPr>
        <p:spPr>
          <a:xfrm>
            <a:off x="1397000" y="8407400"/>
            <a:ext cx="90170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5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HKMA K S Lo College Tech in Ed Task Force</a:t>
            </a:r>
            <a:endParaRPr lang="en-US" sz="1500" dirty="0"/>
          </a:p>
        </p:txBody>
      </p:sp>
      <p:sp>
        <p:nvSpPr>
          <p:cNvPr id="21" name="notebook_setup-text-20"/>
          <p:cNvSpPr/>
          <p:nvPr/>
        </p:nvSpPr>
        <p:spPr>
          <a:xfrm>
            <a:off x="12192000" y="8407400"/>
            <a:ext cx="21590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5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Oct 2026</a:t>
            </a:r>
            <a:endParaRPr lang="en-US" sz="1500" dirty="0"/>
          </a:p>
        </p:txBody>
      </p:sp>
      <p:sp>
        <p:nvSpPr>
          <p:cNvPr id="22" name="notebook_setup-text-21"/>
          <p:cNvSpPr/>
          <p:nvPr/>
        </p:nvSpPr>
        <p:spPr>
          <a:xfrm>
            <a:off x="14859000" y="8407400"/>
            <a:ext cx="6350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5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emini-notebook-logo" descr="preencoded.png">    </p:cNvPr>
          <p:cNvPicPr>
            <a:picLocks noChangeAspect="1"/>
          </p:cNvPicPr>
          <p:nvPr/>
        </p:nvPicPr>
        <p:blipFill>
          <a:blip r:embed="rId1"/>
          <a:srcRect l="0" r="0" t="-90" b="-90"/>
          <a:stretch/>
        </p:blipFill>
        <p:spPr>
          <a:xfrm>
            <a:off x="12192000" y="381000"/>
            <a:ext cx="3302000" cy="281940"/>
          </a:xfrm>
          <a:prstGeom prst="rect">
            <a:avLst/>
          </a:prstGeom>
        </p:spPr>
      </p:pic>
      <p:sp>
        <p:nvSpPr>
          <p:cNvPr id="3" name="instructions-text-2"/>
          <p:cNvSpPr/>
          <p:nvPr/>
        </p:nvSpPr>
        <p:spPr>
          <a:xfrm>
            <a:off x="762000" y="889000"/>
            <a:ext cx="14732000" cy="1790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042"/>
              </a:lnSpc>
              <a:buNone/>
            </a:pPr>
            <a:r>
              <a:rPr lang="en-US" altLang="en-US" sz="5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Better instructions.</a:t>
            </a:r>
            <a:endParaRPr lang="en-US" sz="5700" dirty="0"/>
          </a:p>
          <a:p>
            <a:pPr algn="l" indent="0" marL="0">
              <a:lnSpc>
                <a:spcPts val="6042"/>
              </a:lnSpc>
              <a:buNone/>
            </a:pPr>
            <a:r>
              <a:rPr lang="en-US" altLang="en-US" sz="5700" b="1" dirty="0">
                <a:solidFill>
                  <a:srgbClr val="E746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Better answers.</a:t>
            </a:r>
            <a:endParaRPr lang="en-US" sz="5700" dirty="0"/>
          </a:p>
        </p:txBody>
      </p:sp>
      <p:sp>
        <p:nvSpPr>
          <p:cNvPr id="4" name="instructions-shape-3"/>
          <p:cNvSpPr/>
          <p:nvPr/>
        </p:nvSpPr>
        <p:spPr>
          <a:xfrm>
            <a:off x="762000" y="3136900"/>
            <a:ext cx="14732000" cy="9144"/>
          </a:xfrm>
          <a:prstGeom prst="line">
            <a:avLst/>
          </a:prstGeom>
          <a:ln w="25400">
            <a:solidFill>
              <a:srgbClr val="111111"/>
            </a:solidFill>
            <a:prstDash val="solid"/>
          </a:ln>
        </p:spPr>
      </p:sp>
      <p:sp>
        <p:nvSpPr>
          <p:cNvPr id="5" name="instructions-text-4"/>
          <p:cNvSpPr/>
          <p:nvPr/>
        </p:nvSpPr>
        <p:spPr>
          <a:xfrm>
            <a:off x="762000" y="3606800"/>
            <a:ext cx="14732000" cy="307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280"/>
              </a:lnSpc>
              <a:buNone/>
            </a:pPr>
            <a:r>
              <a:rPr lang="en-US" altLang="en-US" sz="3200" b="1" dirty="0">
                <a:solidFill>
                  <a:srgbClr val="E746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r>
              <a:rPr lang="en-US" alt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Select only relevant sources.</a:t>
            </a:r>
            <a:endParaRPr lang="en-US" sz="3200" dirty="0"/>
          </a:p>
          <a:p>
            <a:pPr algn="l" indent="0" marL="0">
              <a:lnSpc>
                <a:spcPts val="5280"/>
              </a:lnSpc>
              <a:buNone/>
            </a:pPr>
            <a:r>
              <a:rPr lang="en-US" altLang="en-US" sz="3200" b="1" dirty="0">
                <a:solidFill>
                  <a:srgbClr val="E746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r>
              <a:rPr lang="en-US" alt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Set a short teacher instruction in Chat settings.</a:t>
            </a:r>
            <a:endParaRPr lang="en-US" sz="3200" dirty="0"/>
          </a:p>
          <a:p>
            <a:pPr algn="l" indent="0" marL="0">
              <a:lnSpc>
                <a:spcPts val="5280"/>
              </a:lnSpc>
              <a:buNone/>
            </a:pPr>
            <a:r>
              <a:rPr lang="en-US" altLang="en-US" sz="3200" b="1" dirty="0">
                <a:solidFill>
                  <a:srgbClr val="E746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r>
              <a:rPr lang="en-US" alt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State audience, task, format—and ask for evidence.</a:t>
            </a:r>
            <a:endParaRPr lang="en-US" sz="3200" dirty="0"/>
          </a:p>
          <a:p>
            <a:pPr algn="l" indent="0" marL="0">
              <a:lnSpc>
                <a:spcPts val="5280"/>
              </a:lnSpc>
              <a:buNone/>
            </a:pPr>
            <a:r>
              <a:rPr lang="en-US" altLang="en-US" sz="3200" b="1" dirty="0">
                <a:solidFill>
                  <a:srgbClr val="E746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r>
              <a:rPr lang="en-US" alt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Check, then refine.</a:t>
            </a:r>
            <a:endParaRPr lang="en-US" sz="3200" dirty="0"/>
          </a:p>
        </p:txBody>
      </p:sp>
      <p:sp>
        <p:nvSpPr>
          <p:cNvPr id="6" name="instructions-shape-5"/>
          <p:cNvSpPr/>
          <p:nvPr/>
        </p:nvSpPr>
        <p:spPr>
          <a:xfrm>
            <a:off x="762000" y="6896100"/>
            <a:ext cx="14732000" cy="9144"/>
          </a:xfrm>
          <a:prstGeom prst="line">
            <a:avLst/>
          </a:prstGeom>
          <a:ln w="12700">
            <a:solidFill>
              <a:srgbClr val="CCCCC5"/>
            </a:solidFill>
            <a:prstDash val="solid"/>
          </a:ln>
        </p:spPr>
      </p:sp>
      <p:sp>
        <p:nvSpPr>
          <p:cNvPr id="7" name="instructions-text-6"/>
          <p:cNvSpPr/>
          <p:nvPr/>
        </p:nvSpPr>
        <p:spPr>
          <a:xfrm>
            <a:off x="762000" y="7264400"/>
            <a:ext cx="14732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6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whom? Do what? In what format? With what limits?</a:t>
            </a:r>
            <a:endParaRPr lang="en-US" sz="2600" dirty="0"/>
          </a:p>
        </p:txBody>
      </p:sp>
      <p:sp>
        <p:nvSpPr>
          <p:cNvPr id="8" name="instructions-shape-7"/>
          <p:cNvSpPr/>
          <p:nvPr/>
        </p:nvSpPr>
        <p:spPr>
          <a:xfrm>
            <a:off x="762000" y="8102600"/>
            <a:ext cx="14732000" cy="9144"/>
          </a:xfrm>
          <a:prstGeom prst="line">
            <a:avLst/>
          </a:prstGeom>
          <a:ln w="12700">
            <a:solidFill>
              <a:srgbClr val="CCCCC5"/>
            </a:solidFill>
            <a:prstDash val="solid"/>
          </a:ln>
        </p:spPr>
      </p:sp>
      <p:sp>
        <p:nvSpPr>
          <p:cNvPr id="9" name="instructions-shape-8"/>
          <p:cNvSpPr/>
          <p:nvPr/>
        </p:nvSpPr>
        <p:spPr>
          <a:xfrm>
            <a:off x="762000" y="8305800"/>
            <a:ext cx="457200" cy="457200"/>
          </a:xfrm>
          <a:prstGeom prst="roundRect">
            <a:avLst>
              <a:gd name="adj" fmla="val 19444"/>
            </a:avLst>
          </a:prstGeom>
          <a:ln w="19050">
            <a:solidFill>
              <a:srgbClr val="E74627"/>
            </a:solidFill>
            <a:prstDash val="solid"/>
          </a:ln>
        </p:spPr>
      </p:sp>
      <p:pic>
        <p:nvPicPr>
          <p:cNvPr id="10" name="instructions-image-9" descr="preencoded.png">    </p:cNvPr>
          <p:cNvPicPr>
            <a:picLocks noChangeAspect="1"/>
          </p:cNvPicPr>
          <p:nvPr/>
        </p:nvPicPr>
        <p:blipFill>
          <a:blip r:embed="rId2"/>
          <a:srcRect l="-245" r="-245" t="0" b="0"/>
          <a:stretch/>
        </p:blipFill>
        <p:spPr>
          <a:xfrm>
            <a:off x="812800" y="8356600"/>
            <a:ext cx="355600" cy="355600"/>
          </a:xfrm>
          <a:prstGeom prst="rect">
            <a:avLst/>
          </a:prstGeom>
        </p:spPr>
      </p:pic>
      <p:sp>
        <p:nvSpPr>
          <p:cNvPr id="11" name="instructions-text-10"/>
          <p:cNvSpPr/>
          <p:nvPr/>
        </p:nvSpPr>
        <p:spPr>
          <a:xfrm>
            <a:off x="1397000" y="8407400"/>
            <a:ext cx="90170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5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HKMA K S Lo College Tech in Ed Task Force</a:t>
            </a:r>
            <a:endParaRPr lang="en-US" sz="1500" dirty="0"/>
          </a:p>
        </p:txBody>
      </p:sp>
      <p:sp>
        <p:nvSpPr>
          <p:cNvPr id="12" name="instructions-text-11"/>
          <p:cNvSpPr/>
          <p:nvPr/>
        </p:nvSpPr>
        <p:spPr>
          <a:xfrm>
            <a:off x="12192000" y="8407400"/>
            <a:ext cx="21590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5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Oct 2026</a:t>
            </a:r>
            <a:endParaRPr lang="en-US" sz="1500" dirty="0"/>
          </a:p>
        </p:txBody>
      </p:sp>
      <p:sp>
        <p:nvSpPr>
          <p:cNvPr id="13" name="instructions-text-12"/>
          <p:cNvSpPr/>
          <p:nvPr/>
        </p:nvSpPr>
        <p:spPr>
          <a:xfrm>
            <a:off x="14859000" y="8407400"/>
            <a:ext cx="6350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5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emini-notebook-logo" descr="preencoded.png">    </p:cNvPr>
          <p:cNvPicPr>
            <a:picLocks noChangeAspect="1"/>
          </p:cNvPicPr>
          <p:nvPr/>
        </p:nvPicPr>
        <p:blipFill>
          <a:blip r:embed="rId1"/>
          <a:srcRect l="0" r="0" t="-90" b="-90"/>
          <a:stretch/>
        </p:blipFill>
        <p:spPr>
          <a:xfrm>
            <a:off x="12192000" y="381000"/>
            <a:ext cx="3302000" cy="281940"/>
          </a:xfrm>
          <a:prstGeom prst="rect">
            <a:avLst/>
          </a:prstGeom>
        </p:spPr>
      </p:pic>
      <p:sp>
        <p:nvSpPr>
          <p:cNvPr id="3" name="explore_activity-text-2"/>
          <p:cNvSpPr/>
          <p:nvPr/>
        </p:nvSpPr>
        <p:spPr>
          <a:xfrm>
            <a:off x="762000" y="889000"/>
            <a:ext cx="14732000" cy="168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724"/>
              </a:lnSpc>
              <a:buNone/>
            </a:pPr>
            <a:r>
              <a:rPr lang="en-US" altLang="en-US" sz="5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Try Explore.</a:t>
            </a:r>
            <a:endParaRPr lang="en-US" sz="5400" dirty="0"/>
          </a:p>
          <a:p>
            <a:pPr algn="l" indent="0" marL="0">
              <a:lnSpc>
                <a:spcPts val="5724"/>
              </a:lnSpc>
              <a:buNone/>
            </a:pPr>
            <a:r>
              <a:rPr lang="en-US" altLang="en-US" sz="5400" b="1" dirty="0">
                <a:solidFill>
                  <a:srgbClr val="E746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 more relevant sources.</a:t>
            </a:r>
            <a:endParaRPr lang="en-US" sz="5400" dirty="0"/>
          </a:p>
        </p:txBody>
      </p:sp>
      <p:sp>
        <p:nvSpPr>
          <p:cNvPr id="4" name="explore_activity-shape-3"/>
          <p:cNvSpPr/>
          <p:nvPr/>
        </p:nvSpPr>
        <p:spPr>
          <a:xfrm>
            <a:off x="762000" y="2895600"/>
            <a:ext cx="14732000" cy="9144"/>
          </a:xfrm>
          <a:prstGeom prst="line">
            <a:avLst/>
          </a:prstGeom>
          <a:ln w="25400">
            <a:solidFill>
              <a:srgbClr val="111111"/>
            </a:solidFill>
            <a:prstDash val="solid"/>
          </a:ln>
        </p:spPr>
      </p:sp>
      <p:sp>
        <p:nvSpPr>
          <p:cNvPr id="5" name="explore_activity-text-4"/>
          <p:cNvSpPr/>
          <p:nvPr/>
        </p:nvSpPr>
        <p:spPr>
          <a:xfrm>
            <a:off x="762000" y="3314700"/>
            <a:ext cx="7112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3200" b="1" dirty="0">
                <a:solidFill>
                  <a:srgbClr val="E746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3200" dirty="0"/>
          </a:p>
        </p:txBody>
      </p:sp>
      <p:sp>
        <p:nvSpPr>
          <p:cNvPr id="6" name="explore_activity-text-5"/>
          <p:cNvSpPr/>
          <p:nvPr/>
        </p:nvSpPr>
        <p:spPr>
          <a:xfrm>
            <a:off x="1651000" y="3352800"/>
            <a:ext cx="61849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00"/>
              </a:lnSpc>
              <a:buNone/>
            </a:pPr>
            <a:r>
              <a:rPr lang="en-US" altLang="en-US" sz="2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your Blueprint notebook:</a:t>
            </a:r>
            <a:endParaRPr lang="en-US" sz="2800" dirty="0"/>
          </a:p>
          <a:p>
            <a:pPr algn="l" indent="0" marL="0">
              <a:lnSpc>
                <a:spcPts val="3500"/>
              </a:lnSpc>
              <a:buNone/>
            </a:pPr>
            <a:r>
              <a:rPr lang="en-US" altLang="en-US" sz="2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 </a:t>
            </a:r>
            <a:r>
              <a:rPr lang="en-US" altLang="en-US" sz="240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(來源)</a:t>
            </a:r>
            <a:r>
              <a:rPr lang="en-US" altLang="en-US" sz="2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Explore </a:t>
            </a:r>
            <a:r>
              <a:rPr lang="en-US" altLang="en-US" sz="240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(探索)</a:t>
            </a:r>
            <a:r>
              <a:rPr lang="en-US" altLang="en-US" sz="2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2800" dirty="0"/>
          </a:p>
        </p:txBody>
      </p:sp>
      <p:sp>
        <p:nvSpPr>
          <p:cNvPr id="7" name="explore_activity-text-6"/>
          <p:cNvSpPr/>
          <p:nvPr/>
        </p:nvSpPr>
        <p:spPr>
          <a:xfrm>
            <a:off x="762000" y="4572000"/>
            <a:ext cx="7112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3200" b="1" dirty="0">
                <a:solidFill>
                  <a:srgbClr val="E746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3200" dirty="0"/>
          </a:p>
        </p:txBody>
      </p:sp>
      <p:sp>
        <p:nvSpPr>
          <p:cNvPr id="8" name="explore_activity-text-7"/>
          <p:cNvSpPr/>
          <p:nvPr/>
        </p:nvSpPr>
        <p:spPr>
          <a:xfrm>
            <a:off x="1651000" y="4610100"/>
            <a:ext cx="6184900" cy="977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00"/>
              </a:lnSpc>
              <a:buNone/>
            </a:pPr>
            <a:r>
              <a:rPr lang="en-US" altLang="en-US" sz="2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 for guidance related to the Blueprint. Be specific.</a:t>
            </a:r>
            <a:endParaRPr lang="en-US" sz="2800" dirty="0"/>
          </a:p>
        </p:txBody>
      </p:sp>
      <p:sp>
        <p:nvSpPr>
          <p:cNvPr id="9" name="explore_activity-text-8"/>
          <p:cNvSpPr/>
          <p:nvPr/>
        </p:nvSpPr>
        <p:spPr>
          <a:xfrm>
            <a:off x="762000" y="5816600"/>
            <a:ext cx="7112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3200" b="1" dirty="0">
                <a:solidFill>
                  <a:srgbClr val="E746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3200" dirty="0"/>
          </a:p>
        </p:txBody>
      </p:sp>
      <p:sp>
        <p:nvSpPr>
          <p:cNvPr id="10" name="explore_activity-text-9"/>
          <p:cNvSpPr/>
          <p:nvPr/>
        </p:nvSpPr>
        <p:spPr>
          <a:xfrm>
            <a:off x="1651000" y="5854700"/>
            <a:ext cx="6184900" cy="977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00"/>
              </a:lnSpc>
              <a:buNone/>
            </a:pPr>
            <a:r>
              <a:rPr lang="en-US" altLang="en-US" sz="2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the results; add 1–2 relevant, trustworthy sources.</a:t>
            </a:r>
            <a:endParaRPr lang="en-US" sz="2800" dirty="0"/>
          </a:p>
        </p:txBody>
      </p:sp>
      <p:pic>
        <p:nvPicPr>
          <p:cNvPr id="11" name="explore_activity-image-10" descr="preencoded.png">    </p:cNvPr>
          <p:cNvPicPr>
            <a:picLocks noChangeAspect="1"/>
          </p:cNvPicPr>
          <p:nvPr/>
        </p:nvPicPr>
        <p:blipFill>
          <a:blip r:embed="rId2"/>
          <a:srcRect l="0" r="0" t="-20" b="-20"/>
          <a:stretch/>
        </p:blipFill>
        <p:spPr>
          <a:xfrm>
            <a:off x="8382000" y="3327400"/>
            <a:ext cx="7112000" cy="3441700"/>
          </a:xfrm>
          <a:prstGeom prst="rect">
            <a:avLst/>
          </a:prstGeom>
        </p:spPr>
      </p:pic>
      <p:sp>
        <p:nvSpPr>
          <p:cNvPr id="12" name="explore_activity-shape-11"/>
          <p:cNvSpPr/>
          <p:nvPr/>
        </p:nvSpPr>
        <p:spPr>
          <a:xfrm>
            <a:off x="762000" y="8102600"/>
            <a:ext cx="14732000" cy="9144"/>
          </a:xfrm>
          <a:prstGeom prst="line">
            <a:avLst/>
          </a:prstGeom>
          <a:ln w="12700">
            <a:solidFill>
              <a:srgbClr val="CCCCC5"/>
            </a:solidFill>
            <a:prstDash val="solid"/>
          </a:ln>
        </p:spPr>
      </p:sp>
      <p:sp>
        <p:nvSpPr>
          <p:cNvPr id="13" name="explore_activity-shape-12"/>
          <p:cNvSpPr/>
          <p:nvPr/>
        </p:nvSpPr>
        <p:spPr>
          <a:xfrm>
            <a:off x="762000" y="8305800"/>
            <a:ext cx="457200" cy="457200"/>
          </a:xfrm>
          <a:prstGeom prst="roundRect">
            <a:avLst>
              <a:gd name="adj" fmla="val 19444"/>
            </a:avLst>
          </a:prstGeom>
          <a:ln w="19050">
            <a:solidFill>
              <a:srgbClr val="E74627"/>
            </a:solidFill>
            <a:prstDash val="solid"/>
          </a:ln>
        </p:spPr>
      </p:sp>
      <p:pic>
        <p:nvPicPr>
          <p:cNvPr id="14" name="explore_activity-image-13" descr="preencoded.png">    </p:cNvPr>
          <p:cNvPicPr>
            <a:picLocks noChangeAspect="1"/>
          </p:cNvPicPr>
          <p:nvPr/>
        </p:nvPicPr>
        <p:blipFill>
          <a:blip r:embed="rId3"/>
          <a:srcRect l="-245" r="-245" t="0" b="0"/>
          <a:stretch/>
        </p:blipFill>
        <p:spPr>
          <a:xfrm>
            <a:off x="812800" y="8356600"/>
            <a:ext cx="355600" cy="355600"/>
          </a:xfrm>
          <a:prstGeom prst="rect">
            <a:avLst/>
          </a:prstGeom>
        </p:spPr>
      </p:pic>
      <p:sp>
        <p:nvSpPr>
          <p:cNvPr id="15" name="explore_activity-text-14"/>
          <p:cNvSpPr/>
          <p:nvPr/>
        </p:nvSpPr>
        <p:spPr>
          <a:xfrm>
            <a:off x="1397000" y="8407400"/>
            <a:ext cx="90170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5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HKMA K S Lo College Tech in Ed Task Force</a:t>
            </a:r>
            <a:endParaRPr lang="en-US" sz="1500" dirty="0"/>
          </a:p>
        </p:txBody>
      </p:sp>
      <p:sp>
        <p:nvSpPr>
          <p:cNvPr id="16" name="explore_activity-text-15"/>
          <p:cNvSpPr/>
          <p:nvPr/>
        </p:nvSpPr>
        <p:spPr>
          <a:xfrm>
            <a:off x="12192000" y="8407400"/>
            <a:ext cx="21590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5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Oct 2026</a:t>
            </a:r>
            <a:endParaRPr lang="en-US" sz="1500" dirty="0"/>
          </a:p>
        </p:txBody>
      </p:sp>
      <p:sp>
        <p:nvSpPr>
          <p:cNvPr id="17" name="explore_activity-text-16"/>
          <p:cNvSpPr/>
          <p:nvPr/>
        </p:nvSpPr>
        <p:spPr>
          <a:xfrm>
            <a:off x="14859000" y="8407400"/>
            <a:ext cx="6350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5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emini-notebook-logo" descr="preencoded.png">    </p:cNvPr>
          <p:cNvPicPr>
            <a:picLocks noChangeAspect="1"/>
          </p:cNvPicPr>
          <p:nvPr/>
        </p:nvPicPr>
        <p:blipFill>
          <a:blip r:embed="rId1"/>
          <a:srcRect l="0" r="0" t="-90" b="-90"/>
          <a:stretch/>
        </p:blipFill>
        <p:spPr>
          <a:xfrm>
            <a:off x="12192000" y="381000"/>
            <a:ext cx="3302000" cy="281940"/>
          </a:xfrm>
          <a:prstGeom prst="rect">
            <a:avLst/>
          </a:prstGeom>
        </p:spPr>
      </p:pic>
      <p:sp>
        <p:nvSpPr>
          <p:cNvPr id="3" name="explore-text-2"/>
          <p:cNvSpPr/>
          <p:nvPr/>
        </p:nvSpPr>
        <p:spPr>
          <a:xfrm>
            <a:off x="762000" y="889000"/>
            <a:ext cx="147320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300"/>
              </a:lnSpc>
              <a:buNone/>
            </a:pPr>
            <a:r>
              <a:rPr lang="en-US" altLang="en-US" sz="50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Explore sources</a:t>
            </a:r>
            <a:endParaRPr lang="en-US" sz="5000" dirty="0"/>
          </a:p>
          <a:p>
            <a:pPr algn="l" indent="0" marL="0">
              <a:lnSpc>
                <a:spcPts val="5300"/>
              </a:lnSpc>
              <a:buNone/>
            </a:pPr>
            <a:r>
              <a:rPr lang="en-US" altLang="en-US" sz="5000" b="1" dirty="0">
                <a:solidFill>
                  <a:srgbClr val="E746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specific sources are required?</a:t>
            </a:r>
            <a:endParaRPr lang="en-US" sz="5000" dirty="0"/>
          </a:p>
        </p:txBody>
      </p:sp>
      <p:sp>
        <p:nvSpPr>
          <p:cNvPr id="4" name="explore-shape-3"/>
          <p:cNvSpPr/>
          <p:nvPr/>
        </p:nvSpPr>
        <p:spPr>
          <a:xfrm>
            <a:off x="762000" y="2781300"/>
            <a:ext cx="14732000" cy="9144"/>
          </a:xfrm>
          <a:prstGeom prst="line">
            <a:avLst/>
          </a:prstGeom>
          <a:ln w="25400">
            <a:solidFill>
              <a:srgbClr val="111111"/>
            </a:solidFill>
            <a:prstDash val="solid"/>
          </a:ln>
        </p:spPr>
      </p:sp>
      <p:sp>
        <p:nvSpPr>
          <p:cNvPr id="5" name="explore-text-4"/>
          <p:cNvSpPr/>
          <p:nvPr/>
        </p:nvSpPr>
        <p:spPr>
          <a:xfrm>
            <a:off x="762000" y="3683000"/>
            <a:ext cx="8864600" cy="1397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40"/>
              </a:lnSpc>
              <a:buNone/>
            </a:pPr>
            <a:r>
              <a:rPr lang="en-US" altLang="en-US" sz="32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 broad</a:t>
            </a:r>
            <a:endParaRPr lang="en-US" sz="3200" dirty="0"/>
          </a:p>
          <a:p>
            <a:pPr algn="l" indent="0" marL="0">
              <a:lnSpc>
                <a:spcPts val="3840"/>
              </a:lnSpc>
              <a:buNone/>
            </a:pPr>
            <a:r>
              <a:rPr lang="en-US" altLang="en-US" sz="32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Government documents on digital education</a:t>
            </a:r>
            <a:endParaRPr lang="en-US" sz="3200" dirty="0"/>
          </a:p>
        </p:txBody>
      </p:sp>
      <p:sp>
        <p:nvSpPr>
          <p:cNvPr id="6" name="explore-shape-5"/>
          <p:cNvSpPr/>
          <p:nvPr/>
        </p:nvSpPr>
        <p:spPr>
          <a:xfrm>
            <a:off x="762000" y="5346700"/>
            <a:ext cx="8864600" cy="9144"/>
          </a:xfrm>
          <a:prstGeom prst="line">
            <a:avLst/>
          </a:prstGeom>
          <a:ln w="12700">
            <a:solidFill>
              <a:srgbClr val="CCCCC5"/>
            </a:solidFill>
            <a:prstDash val="solid"/>
          </a:ln>
        </p:spPr>
      </p:sp>
      <p:sp>
        <p:nvSpPr>
          <p:cNvPr id="7" name="explore-text-6"/>
          <p:cNvSpPr/>
          <p:nvPr/>
        </p:nvSpPr>
        <p:spPr>
          <a:xfrm>
            <a:off x="762000" y="5676900"/>
            <a:ext cx="8864600" cy="176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40"/>
              </a:lnSpc>
              <a:buNone/>
            </a:pPr>
            <a:r>
              <a:rPr lang="en-US" altLang="en-US" sz="3200" b="1" dirty="0">
                <a:solidFill>
                  <a:srgbClr val="E746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specific</a:t>
            </a:r>
            <a:endParaRPr lang="en-US" sz="3200" dirty="0"/>
          </a:p>
          <a:p>
            <a:pPr algn="l" indent="0" marL="0">
              <a:lnSpc>
                <a:spcPts val="3840"/>
              </a:lnSpc>
              <a:buNone/>
            </a:pPr>
            <a:r>
              <a:rPr lang="en-US" altLang="en-US" sz="3200" b="1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Hong Kong</a:t>
            </a:r>
            <a:r>
              <a:rPr lang="en-US" alt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government documents on digital education</a:t>
            </a:r>
            <a:endParaRPr lang="en-US" sz="3200" dirty="0"/>
          </a:p>
        </p:txBody>
      </p:sp>
      <p:pic>
        <p:nvPicPr>
          <p:cNvPr id="8" name="explore-image-7" descr="preencoded.png">    </p:cNvPr>
          <p:cNvPicPr>
            <a:picLocks noChangeAspect="1"/>
          </p:cNvPicPr>
          <p:nvPr/>
        </p:nvPicPr>
        <p:blipFill>
          <a:blip r:embed="rId2"/>
          <a:srcRect l="0" r="0" t="-15090" b="-15090"/>
          <a:stretch/>
        </p:blipFill>
        <p:spPr>
          <a:xfrm>
            <a:off x="10096500" y="3225800"/>
            <a:ext cx="5397500" cy="4635500"/>
          </a:xfrm>
          <a:prstGeom prst="rect">
            <a:avLst/>
          </a:prstGeom>
        </p:spPr>
      </p:pic>
      <p:sp>
        <p:nvSpPr>
          <p:cNvPr id="9" name="explore-shape-8"/>
          <p:cNvSpPr/>
          <p:nvPr/>
        </p:nvSpPr>
        <p:spPr>
          <a:xfrm>
            <a:off x="762000" y="8102600"/>
            <a:ext cx="14732000" cy="9144"/>
          </a:xfrm>
          <a:prstGeom prst="line">
            <a:avLst/>
          </a:prstGeom>
          <a:ln w="12700">
            <a:solidFill>
              <a:srgbClr val="CCCCC5"/>
            </a:solidFill>
            <a:prstDash val="solid"/>
          </a:ln>
        </p:spPr>
      </p:sp>
      <p:sp>
        <p:nvSpPr>
          <p:cNvPr id="10" name="explore-shape-9"/>
          <p:cNvSpPr/>
          <p:nvPr/>
        </p:nvSpPr>
        <p:spPr>
          <a:xfrm>
            <a:off x="762000" y="8305800"/>
            <a:ext cx="457200" cy="457200"/>
          </a:xfrm>
          <a:prstGeom prst="roundRect">
            <a:avLst>
              <a:gd name="adj" fmla="val 19444"/>
            </a:avLst>
          </a:prstGeom>
          <a:ln w="19050">
            <a:solidFill>
              <a:srgbClr val="E74627"/>
            </a:solidFill>
            <a:prstDash val="solid"/>
          </a:ln>
        </p:spPr>
      </p:sp>
      <p:pic>
        <p:nvPicPr>
          <p:cNvPr id="11" name="explore-image-10" descr="preencoded.png">    </p:cNvPr>
          <p:cNvPicPr>
            <a:picLocks noChangeAspect="1"/>
          </p:cNvPicPr>
          <p:nvPr/>
        </p:nvPicPr>
        <p:blipFill>
          <a:blip r:embed="rId3"/>
          <a:srcRect l="-245" r="-245" t="0" b="0"/>
          <a:stretch/>
        </p:blipFill>
        <p:spPr>
          <a:xfrm>
            <a:off x="812800" y="8356600"/>
            <a:ext cx="355600" cy="355600"/>
          </a:xfrm>
          <a:prstGeom prst="rect">
            <a:avLst/>
          </a:prstGeom>
        </p:spPr>
      </p:pic>
      <p:sp>
        <p:nvSpPr>
          <p:cNvPr id="12" name="explore-text-11"/>
          <p:cNvSpPr/>
          <p:nvPr/>
        </p:nvSpPr>
        <p:spPr>
          <a:xfrm>
            <a:off x="1397000" y="8407400"/>
            <a:ext cx="90170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5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HKMA K S Lo College Tech in Ed Task Force</a:t>
            </a:r>
            <a:endParaRPr lang="en-US" sz="1500" dirty="0"/>
          </a:p>
        </p:txBody>
      </p:sp>
      <p:sp>
        <p:nvSpPr>
          <p:cNvPr id="13" name="explore-text-12"/>
          <p:cNvSpPr/>
          <p:nvPr/>
        </p:nvSpPr>
        <p:spPr>
          <a:xfrm>
            <a:off x="12192000" y="8407400"/>
            <a:ext cx="21590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5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Oct 2026</a:t>
            </a:r>
            <a:endParaRPr lang="en-US" sz="1500" dirty="0"/>
          </a:p>
        </p:txBody>
      </p:sp>
      <p:sp>
        <p:nvSpPr>
          <p:cNvPr id="14" name="explore-text-13"/>
          <p:cNvSpPr/>
          <p:nvPr/>
        </p:nvSpPr>
        <p:spPr>
          <a:xfrm>
            <a:off x="14859000" y="8407400"/>
            <a:ext cx="6350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5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emini-notebook-logo" descr="preencoded.png">    </p:cNvPr>
          <p:cNvPicPr>
            <a:picLocks noChangeAspect="1"/>
          </p:cNvPicPr>
          <p:nvPr/>
        </p:nvPicPr>
        <p:blipFill>
          <a:blip r:embed="rId1"/>
          <a:srcRect l="0" r="0" t="-90" b="-90"/>
          <a:stretch/>
        </p:blipFill>
        <p:spPr>
          <a:xfrm>
            <a:off x="12192000" y="381000"/>
            <a:ext cx="3302000" cy="281940"/>
          </a:xfrm>
          <a:prstGeom prst="rect">
            <a:avLst/>
          </a:prstGeom>
        </p:spPr>
      </p:pic>
      <p:sp>
        <p:nvSpPr>
          <p:cNvPr id="3" name="chat-text-2"/>
          <p:cNvSpPr/>
          <p:nvPr/>
        </p:nvSpPr>
        <p:spPr>
          <a:xfrm>
            <a:off x="762000" y="825500"/>
            <a:ext cx="14732000" cy="1663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618"/>
              </a:lnSpc>
              <a:buNone/>
            </a:pPr>
            <a:r>
              <a:rPr lang="en-US" altLang="en-US" sz="53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Tell chat how</a:t>
            </a:r>
            <a:endParaRPr lang="en-US" sz="5300" dirty="0"/>
          </a:p>
          <a:p>
            <a:pPr algn="l" indent="0" marL="0">
              <a:lnSpc>
                <a:spcPts val="5618"/>
              </a:lnSpc>
              <a:buNone/>
            </a:pPr>
            <a:r>
              <a:rPr lang="en-US" altLang="en-US" sz="5300" b="1" dirty="0">
                <a:solidFill>
                  <a:srgbClr val="E746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organise the answer.</a:t>
            </a:r>
            <a:endParaRPr lang="en-US" sz="5300" dirty="0"/>
          </a:p>
        </p:txBody>
      </p:sp>
      <p:sp>
        <p:nvSpPr>
          <p:cNvPr id="4" name="chat-text-3"/>
          <p:cNvSpPr/>
          <p:nvPr/>
        </p:nvSpPr>
        <p:spPr>
          <a:xfrm>
            <a:off x="762000" y="2730500"/>
            <a:ext cx="147320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altLang="en-US" sz="26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Point form: how many? · Table: column count + names · Steps: numbering</a:t>
            </a:r>
            <a:endParaRPr lang="en-US" sz="2600" dirty="0"/>
          </a:p>
        </p:txBody>
      </p:sp>
      <p:sp>
        <p:nvSpPr>
          <p:cNvPr id="5" name="chat-shape-4"/>
          <p:cNvSpPr/>
          <p:nvPr/>
        </p:nvSpPr>
        <p:spPr>
          <a:xfrm>
            <a:off x="762000" y="3390900"/>
            <a:ext cx="14732000" cy="9144"/>
          </a:xfrm>
          <a:prstGeom prst="line">
            <a:avLst/>
          </a:prstGeom>
          <a:ln w="25400">
            <a:solidFill>
              <a:srgbClr val="111111"/>
            </a:solidFill>
            <a:prstDash val="solid"/>
          </a:ln>
        </p:spPr>
      </p:sp>
      <p:sp>
        <p:nvSpPr>
          <p:cNvPr id="6" name="chat-text-5"/>
          <p:cNvSpPr/>
          <p:nvPr/>
        </p:nvSpPr>
        <p:spPr>
          <a:xfrm>
            <a:off x="762000" y="3835400"/>
            <a:ext cx="14732000" cy="622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altLang="en-US" sz="30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Vague:</a:t>
            </a:r>
            <a:r>
              <a:rPr lang="en-US" altLang="en-US" sz="30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“Summarise this in a table.”</a:t>
            </a:r>
            <a:endParaRPr lang="en-US" sz="3000" dirty="0"/>
          </a:p>
        </p:txBody>
      </p:sp>
      <p:sp>
        <p:nvSpPr>
          <p:cNvPr id="7" name="chat-text-6"/>
          <p:cNvSpPr/>
          <p:nvPr/>
        </p:nvSpPr>
        <p:spPr>
          <a:xfrm>
            <a:off x="762000" y="4965700"/>
            <a:ext cx="14732000" cy="143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95"/>
              </a:lnSpc>
              <a:buNone/>
            </a:pPr>
            <a:r>
              <a:rPr lang="en-US" altLang="en-US" sz="3100" b="1" dirty="0">
                <a:solidFill>
                  <a:srgbClr val="E746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Clear:</a:t>
            </a:r>
            <a:r>
              <a:rPr lang="en-US" altLang="en-US" sz="31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Use a four-column table: Key point; Document statement;</a:t>
            </a:r>
            <a:endParaRPr lang="en-US" sz="3100" dirty="0"/>
          </a:p>
          <a:p>
            <a:pPr algn="l" indent="0" marL="0">
              <a:lnSpc>
                <a:spcPts val="4495"/>
              </a:lnSpc>
              <a:buNone/>
            </a:pPr>
            <a:r>
              <a:rPr lang="en-US" altLang="en-US" sz="31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Teacher implication; Citation. Keep cells brief.</a:t>
            </a:r>
            <a:endParaRPr lang="en-US" sz="3100" dirty="0"/>
          </a:p>
        </p:txBody>
      </p:sp>
      <p:graphicFrame>
        <p:nvGraphicFramePr>
          <p:cNvPr id="13" name="chat-table-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2000" y="6527800"/>
          <a:ext cx="14732000" cy="711200"/>
        </p:xfrm>
        <a:graphic>
          <a:graphicData uri="http://schemas.openxmlformats.org/drawingml/2006/table">
            <a:tbl>
              <a:tblPr/>
              <a:tblGrid>
                <a:gridCol w="2946400"/>
                <a:gridCol w="4419600"/>
                <a:gridCol w="4419600"/>
                <a:gridCol w="2946400"/>
              </a:tblGrid>
              <a:tr h="7112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50"/>
                        </a:lnSpc>
                        <a:buNone/>
                      </a:pPr>
                      <a:r>
                        <a:rPr lang="en-US" altLang="en-US" sz="2600" b="1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Key point</a:t>
                      </a:r>
                      <a:endParaRPr lang="en-US" sz="2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101600" marB="101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50"/>
                        </a:lnSpc>
                        <a:buNone/>
                      </a:pPr>
                      <a:r>
                        <a:rPr lang="en-US" altLang="en-US" sz="2600" b="1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Document statement</a:t>
                      </a:r>
                      <a:endParaRPr lang="en-US" sz="2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101600" marB="101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50"/>
                        </a:lnSpc>
                        <a:buNone/>
                      </a:pPr>
                      <a:r>
                        <a:rPr lang="en-US" altLang="en-US" sz="2600" b="1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Teacher implication</a:t>
                      </a:r>
                      <a:endParaRPr lang="en-US" sz="2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101600" marB="101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50"/>
                        </a:lnSpc>
                        <a:buNone/>
                      </a:pPr>
                      <a:r>
                        <a:rPr lang="en-US" altLang="en-US" sz="2600" b="1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Citation</a:t>
                      </a:r>
                      <a:endParaRPr lang="en-US" sz="2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101600" marB="101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9" name="chat-shape-8"/>
          <p:cNvSpPr/>
          <p:nvPr/>
        </p:nvSpPr>
        <p:spPr>
          <a:xfrm>
            <a:off x="762000" y="8102600"/>
            <a:ext cx="14732000" cy="9144"/>
          </a:xfrm>
          <a:prstGeom prst="line">
            <a:avLst/>
          </a:prstGeom>
          <a:ln w="12700">
            <a:solidFill>
              <a:srgbClr val="CCCCC5"/>
            </a:solidFill>
            <a:prstDash val="solid"/>
          </a:ln>
        </p:spPr>
      </p:sp>
      <p:sp>
        <p:nvSpPr>
          <p:cNvPr id="10" name="chat-shape-9"/>
          <p:cNvSpPr/>
          <p:nvPr/>
        </p:nvSpPr>
        <p:spPr>
          <a:xfrm>
            <a:off x="762000" y="8305800"/>
            <a:ext cx="457200" cy="457200"/>
          </a:xfrm>
          <a:prstGeom prst="roundRect">
            <a:avLst>
              <a:gd name="adj" fmla="val 19444"/>
            </a:avLst>
          </a:prstGeom>
          <a:ln w="19050">
            <a:solidFill>
              <a:srgbClr val="E74627"/>
            </a:solidFill>
            <a:prstDash val="solid"/>
          </a:ln>
        </p:spPr>
      </p:sp>
      <p:pic>
        <p:nvPicPr>
          <p:cNvPr id="11" name="chat-image-10" descr="preencoded.png">    </p:cNvPr>
          <p:cNvPicPr>
            <a:picLocks noChangeAspect="1"/>
          </p:cNvPicPr>
          <p:nvPr/>
        </p:nvPicPr>
        <p:blipFill>
          <a:blip r:embed="rId2"/>
          <a:srcRect l="-245" r="-245" t="0" b="0"/>
          <a:stretch/>
        </p:blipFill>
        <p:spPr>
          <a:xfrm>
            <a:off x="812800" y="8356600"/>
            <a:ext cx="355600" cy="355600"/>
          </a:xfrm>
          <a:prstGeom prst="rect">
            <a:avLst/>
          </a:prstGeom>
        </p:spPr>
      </p:pic>
      <p:sp>
        <p:nvSpPr>
          <p:cNvPr id="12" name="chat-text-11"/>
          <p:cNvSpPr/>
          <p:nvPr/>
        </p:nvSpPr>
        <p:spPr>
          <a:xfrm>
            <a:off x="1397000" y="8407400"/>
            <a:ext cx="90170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5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HKMA K S Lo College Tech in Ed Task Force</a:t>
            </a:r>
            <a:endParaRPr lang="en-US" sz="1500" dirty="0"/>
          </a:p>
        </p:txBody>
      </p:sp>
      <p:sp>
        <p:nvSpPr>
          <p:cNvPr id="8" name="chat-text-12"/>
          <p:cNvSpPr/>
          <p:nvPr/>
        </p:nvSpPr>
        <p:spPr>
          <a:xfrm>
            <a:off x="12192000" y="8407400"/>
            <a:ext cx="21590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5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Oct 2026</a:t>
            </a:r>
            <a:endParaRPr lang="en-US" sz="1500" dirty="0"/>
          </a:p>
        </p:txBody>
      </p:sp>
      <p:sp>
        <p:nvSpPr>
          <p:cNvPr id="14" name="chat-text-13"/>
          <p:cNvSpPr/>
          <p:nvPr/>
        </p:nvSpPr>
        <p:spPr>
          <a:xfrm>
            <a:off x="14859000" y="8407400"/>
            <a:ext cx="6350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5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emini-notebook-logo" descr="preencoded.png">    </p:cNvPr>
          <p:cNvPicPr>
            <a:picLocks noChangeAspect="1"/>
          </p:cNvPicPr>
          <p:nvPr/>
        </p:nvPicPr>
        <p:blipFill>
          <a:blip r:embed="rId1"/>
          <a:srcRect l="0" r="0" t="-90" b="-90"/>
          <a:stretch/>
        </p:blipFill>
        <p:spPr>
          <a:xfrm>
            <a:off x="12192000" y="381000"/>
            <a:ext cx="3302000" cy="281940"/>
          </a:xfrm>
          <a:prstGeom prst="rect">
            <a:avLst/>
          </a:prstGeom>
        </p:spPr>
      </p:pic>
      <p:sp>
        <p:nvSpPr>
          <p:cNvPr id="3" name="practice-text-2"/>
          <p:cNvSpPr/>
          <p:nvPr/>
        </p:nvSpPr>
        <p:spPr>
          <a:xfrm>
            <a:off x="762000" y="812800"/>
            <a:ext cx="14732000" cy="170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720"/>
              </a:lnSpc>
              <a:buNone/>
            </a:pPr>
            <a:r>
              <a:rPr lang="en-US" altLang="en-US" sz="55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Hands-on: generate,</a:t>
            </a:r>
            <a:endParaRPr lang="en-US" sz="5500" dirty="0"/>
          </a:p>
          <a:p>
            <a:pPr algn="l" indent="0" marL="0">
              <a:lnSpc>
                <a:spcPts val="5720"/>
              </a:lnSpc>
              <a:buNone/>
            </a:pPr>
            <a:r>
              <a:rPr lang="en-US" altLang="en-US" sz="5500" b="1" dirty="0">
                <a:solidFill>
                  <a:srgbClr val="E746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customise, compare.</a:t>
            </a:r>
            <a:endParaRPr lang="en-US" sz="5500" dirty="0"/>
          </a:p>
        </p:txBody>
      </p:sp>
      <p:sp>
        <p:nvSpPr>
          <p:cNvPr id="4" name="practice-shape-3"/>
          <p:cNvSpPr/>
          <p:nvPr/>
        </p:nvSpPr>
        <p:spPr>
          <a:xfrm>
            <a:off x="762000" y="2819400"/>
            <a:ext cx="14732000" cy="9144"/>
          </a:xfrm>
          <a:prstGeom prst="line">
            <a:avLst/>
          </a:prstGeom>
          <a:ln w="25400">
            <a:solidFill>
              <a:srgbClr val="111111"/>
            </a:solidFill>
            <a:prstDash val="solid"/>
          </a:ln>
        </p:spPr>
      </p:sp>
      <p:sp>
        <p:nvSpPr>
          <p:cNvPr id="5" name="practice-shape-4"/>
          <p:cNvSpPr/>
          <p:nvPr/>
        </p:nvSpPr>
        <p:spPr>
          <a:xfrm>
            <a:off x="5549900" y="3124200"/>
            <a:ext cx="9144" cy="3733800"/>
          </a:xfrm>
          <a:prstGeom prst="line">
            <a:avLst/>
          </a:prstGeom>
          <a:ln w="12700">
            <a:solidFill>
              <a:srgbClr val="CCCCC5"/>
            </a:solidFill>
            <a:prstDash val="solid"/>
          </a:ln>
        </p:spPr>
      </p:sp>
      <p:sp>
        <p:nvSpPr>
          <p:cNvPr id="6" name="practice-shape-5"/>
          <p:cNvSpPr/>
          <p:nvPr/>
        </p:nvSpPr>
        <p:spPr>
          <a:xfrm>
            <a:off x="10706100" y="3124200"/>
            <a:ext cx="9144" cy="3733800"/>
          </a:xfrm>
          <a:prstGeom prst="line">
            <a:avLst/>
          </a:prstGeom>
          <a:ln w="12700">
            <a:solidFill>
              <a:srgbClr val="CCCCC5"/>
            </a:solidFill>
            <a:prstDash val="solid"/>
          </a:ln>
        </p:spPr>
      </p:sp>
      <p:sp>
        <p:nvSpPr>
          <p:cNvPr id="7" name="practice-text-6"/>
          <p:cNvSpPr/>
          <p:nvPr/>
        </p:nvSpPr>
        <p:spPr>
          <a:xfrm>
            <a:off x="762000" y="3073400"/>
            <a:ext cx="4318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9200" b="1" dirty="0">
                <a:solidFill>
                  <a:srgbClr val="E746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9200" dirty="0"/>
          </a:p>
        </p:txBody>
      </p:sp>
      <p:sp>
        <p:nvSpPr>
          <p:cNvPr id="8" name="practice-text-7"/>
          <p:cNvSpPr/>
          <p:nvPr/>
        </p:nvSpPr>
        <p:spPr>
          <a:xfrm>
            <a:off x="5905500" y="3073400"/>
            <a:ext cx="4318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9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9200" dirty="0"/>
          </a:p>
        </p:txBody>
      </p:sp>
      <p:sp>
        <p:nvSpPr>
          <p:cNvPr id="9" name="practice-text-8"/>
          <p:cNvSpPr/>
          <p:nvPr/>
        </p:nvSpPr>
        <p:spPr>
          <a:xfrm>
            <a:off x="11049000" y="3073400"/>
            <a:ext cx="4445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9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9200" dirty="0"/>
          </a:p>
        </p:txBody>
      </p:sp>
      <p:sp>
        <p:nvSpPr>
          <p:cNvPr id="10" name="practice-text-9"/>
          <p:cNvSpPr/>
          <p:nvPr/>
        </p:nvSpPr>
        <p:spPr>
          <a:xfrm>
            <a:off x="762000" y="4724400"/>
            <a:ext cx="43180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9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 A</a:t>
            </a:r>
            <a:endParaRPr lang="en-US" sz="2900" dirty="0"/>
          </a:p>
        </p:txBody>
      </p:sp>
      <p:sp>
        <p:nvSpPr>
          <p:cNvPr id="11" name="practice-text-10"/>
          <p:cNvSpPr/>
          <p:nvPr/>
        </p:nvSpPr>
        <p:spPr>
          <a:xfrm>
            <a:off x="5905500" y="4724400"/>
            <a:ext cx="43180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9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Customise B</a:t>
            </a:r>
            <a:endParaRPr lang="en-US" sz="2900" dirty="0"/>
          </a:p>
        </p:txBody>
      </p:sp>
      <p:sp>
        <p:nvSpPr>
          <p:cNvPr id="12" name="practice-text-11"/>
          <p:cNvSpPr/>
          <p:nvPr/>
        </p:nvSpPr>
        <p:spPr>
          <a:xfrm>
            <a:off x="11049000" y="4724400"/>
            <a:ext cx="44450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9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Compare A &amp; B</a:t>
            </a:r>
            <a:endParaRPr lang="en-US" sz="2900" dirty="0"/>
          </a:p>
        </p:txBody>
      </p:sp>
      <p:sp>
        <p:nvSpPr>
          <p:cNvPr id="13" name="practice-text-12"/>
          <p:cNvSpPr/>
          <p:nvPr/>
        </p:nvSpPr>
        <p:spPr>
          <a:xfrm>
            <a:off x="762000" y="5486400"/>
            <a:ext cx="431800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50"/>
              </a:lnSpc>
              <a:buNone/>
            </a:pPr>
            <a:r>
              <a:rPr lang="en-US" altLang="en-US" sz="25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Without customisation.</a:t>
            </a:r>
            <a:endParaRPr lang="en-US" sz="2500" dirty="0"/>
          </a:p>
          <a:p>
            <a:pPr algn="l" indent="0" marL="0">
              <a:lnSpc>
                <a:spcPts val="3250"/>
              </a:lnSpc>
              <a:buNone/>
            </a:pPr>
            <a:r>
              <a:rPr lang="en-US" altLang="en-US" sz="25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it as Version A.</a:t>
            </a:r>
            <a:endParaRPr lang="en-US" sz="2500" dirty="0"/>
          </a:p>
        </p:txBody>
      </p:sp>
      <p:sp>
        <p:nvSpPr>
          <p:cNvPr id="14" name="practice-text-13"/>
          <p:cNvSpPr/>
          <p:nvPr/>
        </p:nvSpPr>
        <p:spPr>
          <a:xfrm>
            <a:off x="5905500" y="5486400"/>
            <a:ext cx="4318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90"/>
              </a:lnSpc>
              <a:buNone/>
            </a:pPr>
            <a:r>
              <a:rPr lang="en-US" altLang="en-US" sz="23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⋮ → Customise </a:t>
            </a:r>
            <a:r>
              <a:rPr lang="en-US" altLang="en-US" sz="2400" dirty="0">
                <a:solidFill>
                  <a:srgbClr val="5555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/ 自訂</a:t>
            </a:r>
            <a:r>
              <a:rPr lang="en-US" altLang="en-US" sz="23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2300" dirty="0"/>
          </a:p>
          <a:p>
            <a:pPr algn="l" indent="0" marL="0">
              <a:lnSpc>
                <a:spcPts val="2990"/>
              </a:lnSpc>
              <a:buNone/>
            </a:pPr>
            <a:r>
              <a:rPr lang="en-US" altLang="en-US" sz="23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Specify audience and focus.</a:t>
            </a:r>
            <a:endParaRPr lang="en-US" sz="2300" dirty="0"/>
          </a:p>
          <a:p>
            <a:pPr algn="l" indent="0" marL="0">
              <a:lnSpc>
                <a:spcPts val="2990"/>
              </a:lnSpc>
              <a:buNone/>
            </a:pPr>
            <a:r>
              <a:rPr lang="en-US" altLang="en-US" sz="23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 Version B.</a:t>
            </a:r>
            <a:endParaRPr lang="en-US" sz="2300" dirty="0"/>
          </a:p>
        </p:txBody>
      </p:sp>
      <p:sp>
        <p:nvSpPr>
          <p:cNvPr id="15" name="practice-text-14"/>
          <p:cNvSpPr/>
          <p:nvPr/>
        </p:nvSpPr>
        <p:spPr>
          <a:xfrm>
            <a:off x="11049000" y="5486400"/>
            <a:ext cx="4445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50"/>
              </a:lnSpc>
              <a:buNone/>
            </a:pPr>
            <a:r>
              <a:rPr lang="en-US" altLang="en-US" sz="25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relevant? Clearer?</a:t>
            </a:r>
            <a:endParaRPr lang="en-US" sz="2500" dirty="0"/>
          </a:p>
          <a:p>
            <a:pPr algn="l" indent="0" marL="0">
              <a:lnSpc>
                <a:spcPts val="3250"/>
              </a:lnSpc>
              <a:buNone/>
            </a:pPr>
            <a:r>
              <a:rPr lang="en-US" altLang="en-US" sz="25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useful for teaching?</a:t>
            </a:r>
            <a:endParaRPr lang="en-US" sz="2500" dirty="0"/>
          </a:p>
        </p:txBody>
      </p:sp>
      <p:sp>
        <p:nvSpPr>
          <p:cNvPr id="16" name="practice-text-15"/>
          <p:cNvSpPr/>
          <p:nvPr/>
        </p:nvSpPr>
        <p:spPr>
          <a:xfrm>
            <a:off x="762000" y="7366000"/>
            <a:ext cx="1473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5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the Studio tool, selected sources and output language the same.</a:t>
            </a:r>
            <a:endParaRPr lang="en-US" sz="2500" dirty="0"/>
          </a:p>
        </p:txBody>
      </p:sp>
      <p:sp>
        <p:nvSpPr>
          <p:cNvPr id="17" name="practice-shape-16"/>
          <p:cNvSpPr/>
          <p:nvPr/>
        </p:nvSpPr>
        <p:spPr>
          <a:xfrm>
            <a:off x="762000" y="8102600"/>
            <a:ext cx="14732000" cy="9144"/>
          </a:xfrm>
          <a:prstGeom prst="line">
            <a:avLst/>
          </a:prstGeom>
          <a:ln w="12700">
            <a:solidFill>
              <a:srgbClr val="CCCCC5"/>
            </a:solidFill>
            <a:prstDash val="solid"/>
          </a:ln>
        </p:spPr>
      </p:sp>
      <p:sp>
        <p:nvSpPr>
          <p:cNvPr id="18" name="practice-shape-17"/>
          <p:cNvSpPr/>
          <p:nvPr/>
        </p:nvSpPr>
        <p:spPr>
          <a:xfrm>
            <a:off x="762000" y="8305800"/>
            <a:ext cx="457200" cy="457200"/>
          </a:xfrm>
          <a:prstGeom prst="roundRect">
            <a:avLst>
              <a:gd name="adj" fmla="val 19444"/>
            </a:avLst>
          </a:prstGeom>
          <a:ln w="19050">
            <a:solidFill>
              <a:srgbClr val="E74627"/>
            </a:solidFill>
            <a:prstDash val="solid"/>
          </a:ln>
        </p:spPr>
      </p:sp>
      <p:pic>
        <p:nvPicPr>
          <p:cNvPr id="19" name="practice-image-18" descr="preencoded.png">    </p:cNvPr>
          <p:cNvPicPr>
            <a:picLocks noChangeAspect="1"/>
          </p:cNvPicPr>
          <p:nvPr/>
        </p:nvPicPr>
        <p:blipFill>
          <a:blip r:embed="rId2"/>
          <a:srcRect l="-245" r="-245" t="0" b="0"/>
          <a:stretch/>
        </p:blipFill>
        <p:spPr>
          <a:xfrm>
            <a:off x="812800" y="8356600"/>
            <a:ext cx="355600" cy="355600"/>
          </a:xfrm>
          <a:prstGeom prst="rect">
            <a:avLst/>
          </a:prstGeom>
        </p:spPr>
      </p:pic>
      <p:sp>
        <p:nvSpPr>
          <p:cNvPr id="20" name="practice-text-19"/>
          <p:cNvSpPr/>
          <p:nvPr/>
        </p:nvSpPr>
        <p:spPr>
          <a:xfrm>
            <a:off x="1397000" y="8407400"/>
            <a:ext cx="90170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5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HKMA K S Lo College Tech in Ed Task Force</a:t>
            </a:r>
            <a:endParaRPr lang="en-US" sz="1500" dirty="0"/>
          </a:p>
        </p:txBody>
      </p:sp>
      <p:sp>
        <p:nvSpPr>
          <p:cNvPr id="21" name="practice-text-20"/>
          <p:cNvSpPr/>
          <p:nvPr/>
        </p:nvSpPr>
        <p:spPr>
          <a:xfrm>
            <a:off x="12192000" y="8407400"/>
            <a:ext cx="21590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5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Oct 2026</a:t>
            </a:r>
            <a:endParaRPr lang="en-US" sz="1500" dirty="0"/>
          </a:p>
        </p:txBody>
      </p:sp>
      <p:sp>
        <p:nvSpPr>
          <p:cNvPr id="22" name="practice-text-21"/>
          <p:cNvSpPr/>
          <p:nvPr/>
        </p:nvSpPr>
        <p:spPr>
          <a:xfrm>
            <a:off x="14859000" y="8407400"/>
            <a:ext cx="6350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5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emini-notebook-logo" descr="preencoded.png">    </p:cNvPr>
          <p:cNvPicPr>
            <a:picLocks noChangeAspect="1"/>
          </p:cNvPicPr>
          <p:nvPr/>
        </p:nvPicPr>
        <p:blipFill>
          <a:blip r:embed="rId1"/>
          <a:srcRect l="0" r="0" t="-90" b="-90"/>
          <a:stretch/>
        </p:blipFill>
        <p:spPr>
          <a:xfrm>
            <a:off x="12192000" y="381000"/>
            <a:ext cx="3302000" cy="281940"/>
          </a:xfrm>
          <a:prstGeom prst="rect">
            <a:avLst/>
          </a:prstGeom>
        </p:spPr>
      </p:pic>
      <p:sp>
        <p:nvSpPr>
          <p:cNvPr id="3" name="padlet-text-2"/>
          <p:cNvSpPr/>
          <p:nvPr/>
        </p:nvSpPr>
        <p:spPr>
          <a:xfrm>
            <a:off x="762000" y="889000"/>
            <a:ext cx="14732000" cy="162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724"/>
              </a:lnSpc>
              <a:buNone/>
            </a:pPr>
            <a:r>
              <a:rPr lang="en-US" altLang="en-US" sz="5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 your comparison</a:t>
            </a:r>
            <a:endParaRPr lang="en-US" sz="5400" dirty="0"/>
          </a:p>
          <a:p>
            <a:pPr algn="l" indent="0" marL="0">
              <a:lnSpc>
                <a:spcPts val="5724"/>
              </a:lnSpc>
              <a:buNone/>
            </a:pPr>
            <a:r>
              <a:rPr lang="en-US" altLang="en-US" sz="5400" b="1" dirty="0">
                <a:solidFill>
                  <a:srgbClr val="E746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Padlet.</a:t>
            </a:r>
            <a:endParaRPr lang="en-US" sz="5400" dirty="0"/>
          </a:p>
        </p:txBody>
      </p:sp>
      <p:sp>
        <p:nvSpPr>
          <p:cNvPr id="4" name="padlet-shape-3"/>
          <p:cNvSpPr/>
          <p:nvPr/>
        </p:nvSpPr>
        <p:spPr>
          <a:xfrm>
            <a:off x="762000" y="2832100"/>
            <a:ext cx="14732000" cy="9144"/>
          </a:xfrm>
          <a:prstGeom prst="line">
            <a:avLst/>
          </a:prstGeom>
          <a:ln w="25400">
            <a:solidFill>
              <a:srgbClr val="111111"/>
            </a:solidFill>
            <a:prstDash val="solid"/>
          </a:ln>
        </p:spPr>
      </p:sp>
      <p:sp>
        <p:nvSpPr>
          <p:cNvPr id="5" name="padlet-text-4"/>
          <p:cNvSpPr/>
          <p:nvPr/>
        </p:nvSpPr>
        <p:spPr>
          <a:xfrm>
            <a:off x="762000" y="3784600"/>
            <a:ext cx="8940800" cy="317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603250" indent="-603250">
              <a:lnSpc>
                <a:spcPts val="4864"/>
              </a:lnSpc>
              <a:spcBef>
                <a:spcPts val="10"/>
              </a:spcBef>
              <a:spcAft>
                <a:spcPts val="3600"/>
              </a:spcAft>
              <a:buSzPct val="100000"/>
              <a:buChar char="•"/>
            </a:pPr>
            <a:r>
              <a:rPr lang="en-US" altLang="en-US" sz="3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Upload the product or readable screenshots.</a:t>
            </a:r>
            <a:endParaRPr lang="en-US" sz="3800" dirty="0"/>
          </a:p>
          <a:p>
            <a:pPr algn="l" marL="603250" indent="-603250">
              <a:lnSpc>
                <a:spcPts val="4864"/>
              </a:lnSpc>
              <a:spcBef>
                <a:spcPts val="10"/>
              </a:spcBef>
              <a:buSzPct val="100000"/>
              <a:buChar char="•"/>
            </a:pPr>
            <a:r>
              <a:rPr lang="en-US" altLang="en-US" sz="3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Briefly describe its purpose and what changed.</a:t>
            </a:r>
            <a:endParaRPr lang="en-US" sz="3800" dirty="0"/>
          </a:p>
        </p:txBody>
      </p:sp>
      <p:sp>
        <p:nvSpPr>
          <p:cNvPr id="6" name="padlet-text-5"/>
          <p:cNvSpPr/>
          <p:nvPr/>
        </p:nvSpPr>
        <p:spPr>
          <a:xfrm>
            <a:off x="762000" y="7048500"/>
            <a:ext cx="8940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3100" b="1" u="sng" dirty="0">
                <a:solidFill>
                  <a:srgbClr val="E74627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 workshop Padlet →</a:t>
            </a:r>
            <a:endParaRPr lang="en-US" sz="3100" dirty="0"/>
          </a:p>
        </p:txBody>
      </p:sp>
      <p:pic>
        <p:nvPicPr>
          <p:cNvPr id="7" name="padlet-image-6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10490200" y="3086100"/>
            <a:ext cx="4826000" cy="4826000"/>
          </a:xfrm>
          <a:prstGeom prst="rect">
            <a:avLst/>
          </a:prstGeom>
        </p:spPr>
      </p:pic>
      <p:sp>
        <p:nvSpPr>
          <p:cNvPr id="8" name="padlet-shape-7"/>
          <p:cNvSpPr/>
          <p:nvPr/>
        </p:nvSpPr>
        <p:spPr>
          <a:xfrm>
            <a:off x="762000" y="8102600"/>
            <a:ext cx="14732000" cy="9144"/>
          </a:xfrm>
          <a:prstGeom prst="line">
            <a:avLst/>
          </a:prstGeom>
          <a:ln w="12700">
            <a:solidFill>
              <a:srgbClr val="CCCCC5"/>
            </a:solidFill>
            <a:prstDash val="solid"/>
          </a:ln>
        </p:spPr>
      </p:sp>
      <p:sp>
        <p:nvSpPr>
          <p:cNvPr id="9" name="padlet-shape-8"/>
          <p:cNvSpPr/>
          <p:nvPr/>
        </p:nvSpPr>
        <p:spPr>
          <a:xfrm>
            <a:off x="762000" y="8305800"/>
            <a:ext cx="457200" cy="457200"/>
          </a:xfrm>
          <a:prstGeom prst="roundRect">
            <a:avLst>
              <a:gd name="adj" fmla="val 19444"/>
            </a:avLst>
          </a:prstGeom>
          <a:ln w="19050">
            <a:solidFill>
              <a:srgbClr val="E74627"/>
            </a:solidFill>
            <a:prstDash val="solid"/>
          </a:ln>
        </p:spPr>
      </p:sp>
      <p:pic>
        <p:nvPicPr>
          <p:cNvPr id="10" name="padlet-image-9" descr="preencoded.png">    </p:cNvPr>
          <p:cNvPicPr>
            <a:picLocks noChangeAspect="1"/>
          </p:cNvPicPr>
          <p:nvPr/>
        </p:nvPicPr>
        <p:blipFill>
          <a:blip r:embed="rId4"/>
          <a:srcRect l="-245" r="-245" t="0" b="0"/>
          <a:stretch/>
        </p:blipFill>
        <p:spPr>
          <a:xfrm>
            <a:off x="812800" y="8356600"/>
            <a:ext cx="355600" cy="355600"/>
          </a:xfrm>
          <a:prstGeom prst="rect">
            <a:avLst/>
          </a:prstGeom>
        </p:spPr>
      </p:pic>
      <p:sp>
        <p:nvSpPr>
          <p:cNvPr id="11" name="padlet-text-10"/>
          <p:cNvSpPr/>
          <p:nvPr/>
        </p:nvSpPr>
        <p:spPr>
          <a:xfrm>
            <a:off x="1397000" y="8407400"/>
            <a:ext cx="90170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5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HKMA K S Lo College Tech in Ed Task Force</a:t>
            </a:r>
            <a:endParaRPr lang="en-US" sz="1500" dirty="0"/>
          </a:p>
        </p:txBody>
      </p:sp>
      <p:sp>
        <p:nvSpPr>
          <p:cNvPr id="12" name="padlet-text-11"/>
          <p:cNvSpPr/>
          <p:nvPr/>
        </p:nvSpPr>
        <p:spPr>
          <a:xfrm>
            <a:off x="12192000" y="8407400"/>
            <a:ext cx="21590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5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Oct 2026</a:t>
            </a:r>
            <a:endParaRPr lang="en-US" sz="1500" dirty="0"/>
          </a:p>
        </p:txBody>
      </p:sp>
      <p:sp>
        <p:nvSpPr>
          <p:cNvPr id="13" name="padlet-text-12"/>
          <p:cNvSpPr/>
          <p:nvPr/>
        </p:nvSpPr>
        <p:spPr>
          <a:xfrm>
            <a:off x="14859000" y="8407400"/>
            <a:ext cx="6350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5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emini-notebook-logo" descr="preencoded.png">    </p:cNvPr>
          <p:cNvPicPr>
            <a:picLocks noChangeAspect="1"/>
          </p:cNvPicPr>
          <p:nvPr/>
        </p:nvPicPr>
        <p:blipFill>
          <a:blip r:embed="rId1"/>
          <a:srcRect l="0" r="0" t="-90" b="-90"/>
          <a:stretch/>
        </p:blipFill>
        <p:spPr>
          <a:xfrm>
            <a:off x="12192000" y="381000"/>
            <a:ext cx="3302000" cy="281940"/>
          </a:xfrm>
          <a:prstGeom prst="rect">
            <a:avLst/>
          </a:prstGeom>
        </p:spPr>
      </p:pic>
      <p:sp>
        <p:nvSpPr>
          <p:cNvPr id="3" name="example_context-text-2"/>
          <p:cNvSpPr/>
          <p:nvPr/>
        </p:nvSpPr>
        <p:spPr>
          <a:xfrm>
            <a:off x="762000" y="889000"/>
            <a:ext cx="14732000" cy="165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512"/>
              </a:lnSpc>
              <a:buNone/>
            </a:pPr>
            <a:r>
              <a:rPr lang="en-US" altLang="en-US" sz="5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</a:t>
            </a:r>
            <a:endParaRPr lang="en-US" sz="5200" dirty="0"/>
          </a:p>
          <a:p>
            <a:pPr algn="l" indent="0" marL="0">
              <a:lnSpc>
                <a:spcPts val="5512"/>
              </a:lnSpc>
              <a:buNone/>
            </a:pPr>
            <a:r>
              <a:rPr lang="en-US" altLang="en-US" sz="5200" b="1" dirty="0">
                <a:solidFill>
                  <a:srgbClr val="E746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S6 English reading materials.</a:t>
            </a:r>
            <a:endParaRPr lang="en-US" sz="5200" dirty="0"/>
          </a:p>
        </p:txBody>
      </p:sp>
      <p:sp>
        <p:nvSpPr>
          <p:cNvPr id="4" name="example_context-shape-3"/>
          <p:cNvSpPr/>
          <p:nvPr/>
        </p:nvSpPr>
        <p:spPr>
          <a:xfrm>
            <a:off x="762000" y="2781300"/>
            <a:ext cx="14732000" cy="9144"/>
          </a:xfrm>
          <a:prstGeom prst="line">
            <a:avLst/>
          </a:prstGeom>
          <a:ln w="25400">
            <a:solidFill>
              <a:srgbClr val="111111"/>
            </a:solidFill>
            <a:prstDash val="solid"/>
          </a:ln>
        </p:spPr>
      </p:sp>
      <p:sp>
        <p:nvSpPr>
          <p:cNvPr id="5" name="example_context-text-4"/>
          <p:cNvSpPr/>
          <p:nvPr/>
        </p:nvSpPr>
        <p:spPr>
          <a:xfrm>
            <a:off x="762000" y="3098800"/>
            <a:ext cx="147320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800" b="1" dirty="0">
                <a:solidFill>
                  <a:srgbClr val="E746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Situation</a:t>
            </a:r>
            <a:endParaRPr lang="en-US" sz="2800" dirty="0"/>
          </a:p>
        </p:txBody>
      </p:sp>
      <p:sp>
        <p:nvSpPr>
          <p:cNvPr id="6" name="example_context-text-5"/>
          <p:cNvSpPr/>
          <p:nvPr/>
        </p:nvSpPr>
        <p:spPr>
          <a:xfrm>
            <a:off x="762000" y="3683000"/>
            <a:ext cx="14732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40"/>
              </a:lnSpc>
              <a:buNone/>
            </a:pPr>
            <a:r>
              <a:rPr lang="en-US" altLang="en-US" sz="3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planning S6 revision, an English teacher wants to know whether the school’s reading-comprehension notes address the skills identified in the selected official guidance.</a:t>
            </a:r>
            <a:endParaRPr lang="en-US" sz="3000" dirty="0"/>
          </a:p>
        </p:txBody>
      </p:sp>
      <p:sp>
        <p:nvSpPr>
          <p:cNvPr id="7" name="example_context-shape-6"/>
          <p:cNvSpPr/>
          <p:nvPr/>
        </p:nvSpPr>
        <p:spPr>
          <a:xfrm>
            <a:off x="762000" y="5295900"/>
            <a:ext cx="14732000" cy="9144"/>
          </a:xfrm>
          <a:prstGeom prst="line">
            <a:avLst/>
          </a:prstGeom>
          <a:ln w="12700">
            <a:solidFill>
              <a:srgbClr val="CCCCC5"/>
            </a:solidFill>
            <a:prstDash val="solid"/>
          </a:ln>
        </p:spPr>
      </p:sp>
      <p:sp>
        <p:nvSpPr>
          <p:cNvPr id="8" name="example_context-text-7"/>
          <p:cNvSpPr/>
          <p:nvPr/>
        </p:nvSpPr>
        <p:spPr>
          <a:xfrm>
            <a:off x="762000" y="5588000"/>
            <a:ext cx="1473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800" b="1" dirty="0">
                <a:solidFill>
                  <a:srgbClr val="E746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 to add to Notebook</a:t>
            </a:r>
            <a:endParaRPr lang="en-US" sz="2800" dirty="0"/>
          </a:p>
        </p:txBody>
      </p:sp>
      <p:sp>
        <p:nvSpPr>
          <p:cNvPr id="9" name="example_context-text-8"/>
          <p:cNvSpPr/>
          <p:nvPr/>
        </p:nvSpPr>
        <p:spPr>
          <a:xfrm>
            <a:off x="762000" y="6223000"/>
            <a:ext cx="14732000" cy="1562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444500" indent="-444500">
              <a:lnSpc>
                <a:spcPts val="3500"/>
              </a:lnSpc>
              <a:spcBef>
                <a:spcPts val="10"/>
              </a:spcBef>
              <a:spcAft>
                <a:spcPts val="500"/>
              </a:spcAft>
              <a:buSzPct val="100000"/>
              <a:buChar char="•"/>
            </a:pPr>
            <a:r>
              <a:rPr lang="en-US" altLang="en-US" sz="2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English Language Curriculum and Assessment Guide (Secondary 4 - 6)</a:t>
            </a:r>
            <a:endParaRPr lang="en-US" sz="2800" dirty="0"/>
          </a:p>
          <a:p>
            <a:pPr algn="l" marL="444500" indent="-444500">
              <a:lnSpc>
                <a:spcPts val="3500"/>
              </a:lnSpc>
              <a:spcBef>
                <a:spcPts val="10"/>
              </a:spcBef>
              <a:spcAft>
                <a:spcPts val="500"/>
              </a:spcAft>
              <a:buSzPct val="100000"/>
              <a:buChar char="•"/>
            </a:pPr>
            <a:r>
              <a:rPr lang="en-US" altLang="en-US" sz="2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English Language Assessment Framework for HKDSE</a:t>
            </a:r>
            <a:endParaRPr lang="en-US" sz="2800" dirty="0"/>
          </a:p>
          <a:p>
            <a:pPr algn="l" marL="444500" indent="-444500">
              <a:lnSpc>
                <a:spcPts val="3500"/>
              </a:lnSpc>
              <a:spcBef>
                <a:spcPts val="10"/>
              </a:spcBef>
              <a:buSzPct val="100000"/>
              <a:buChar char="•"/>
            </a:pPr>
            <a:r>
              <a:rPr lang="en-US" altLang="en-US" sz="2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related reading notes</a:t>
            </a:r>
            <a:endParaRPr lang="en-US" sz="2800" dirty="0"/>
          </a:p>
        </p:txBody>
      </p:sp>
      <p:sp>
        <p:nvSpPr>
          <p:cNvPr id="10" name="example_context-shape-9"/>
          <p:cNvSpPr/>
          <p:nvPr/>
        </p:nvSpPr>
        <p:spPr>
          <a:xfrm>
            <a:off x="762000" y="8102600"/>
            <a:ext cx="14732000" cy="9144"/>
          </a:xfrm>
          <a:prstGeom prst="line">
            <a:avLst/>
          </a:prstGeom>
          <a:ln w="12700">
            <a:solidFill>
              <a:srgbClr val="CCCCC5"/>
            </a:solidFill>
            <a:prstDash val="solid"/>
          </a:ln>
        </p:spPr>
      </p:sp>
      <p:sp>
        <p:nvSpPr>
          <p:cNvPr id="11" name="example_context-shape-10"/>
          <p:cNvSpPr/>
          <p:nvPr/>
        </p:nvSpPr>
        <p:spPr>
          <a:xfrm>
            <a:off x="762000" y="8305800"/>
            <a:ext cx="457200" cy="457200"/>
          </a:xfrm>
          <a:prstGeom prst="roundRect">
            <a:avLst>
              <a:gd name="adj" fmla="val 19444"/>
            </a:avLst>
          </a:prstGeom>
          <a:ln w="19050">
            <a:solidFill>
              <a:srgbClr val="E74627"/>
            </a:solidFill>
            <a:prstDash val="solid"/>
          </a:ln>
        </p:spPr>
      </p:sp>
      <p:pic>
        <p:nvPicPr>
          <p:cNvPr id="12" name="example_context-image-11" descr="preencoded.png">    </p:cNvPr>
          <p:cNvPicPr>
            <a:picLocks noChangeAspect="1"/>
          </p:cNvPicPr>
          <p:nvPr/>
        </p:nvPicPr>
        <p:blipFill>
          <a:blip r:embed="rId2"/>
          <a:srcRect l="-245" r="-245" t="0" b="0"/>
          <a:stretch/>
        </p:blipFill>
        <p:spPr>
          <a:xfrm>
            <a:off x="812800" y="8356600"/>
            <a:ext cx="355600" cy="355600"/>
          </a:xfrm>
          <a:prstGeom prst="rect">
            <a:avLst/>
          </a:prstGeom>
        </p:spPr>
      </p:pic>
      <p:sp>
        <p:nvSpPr>
          <p:cNvPr id="13" name="example_context-text-12"/>
          <p:cNvSpPr/>
          <p:nvPr/>
        </p:nvSpPr>
        <p:spPr>
          <a:xfrm>
            <a:off x="1397000" y="8407400"/>
            <a:ext cx="90170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5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HKMA K S Lo College Tech in Ed Task Force</a:t>
            </a:r>
            <a:endParaRPr lang="en-US" sz="1500" dirty="0"/>
          </a:p>
        </p:txBody>
      </p:sp>
      <p:sp>
        <p:nvSpPr>
          <p:cNvPr id="14" name="example_context-text-13"/>
          <p:cNvSpPr/>
          <p:nvPr/>
        </p:nvSpPr>
        <p:spPr>
          <a:xfrm>
            <a:off x="12192000" y="8407400"/>
            <a:ext cx="21590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5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Oct 2026</a:t>
            </a:r>
            <a:endParaRPr lang="en-US" sz="1500" dirty="0"/>
          </a:p>
        </p:txBody>
      </p:sp>
      <p:sp>
        <p:nvSpPr>
          <p:cNvPr id="15" name="example_context-text-14"/>
          <p:cNvSpPr/>
          <p:nvPr/>
        </p:nvSpPr>
        <p:spPr>
          <a:xfrm>
            <a:off x="14859000" y="8407400"/>
            <a:ext cx="6350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5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emini-notebook-logo" descr="preencoded.png">    </p:cNvPr>
          <p:cNvPicPr>
            <a:picLocks noChangeAspect="1"/>
          </p:cNvPicPr>
          <p:nvPr/>
        </p:nvPicPr>
        <p:blipFill>
          <a:blip r:embed="rId1"/>
          <a:srcRect l="0" r="0" t="-90" b="-90"/>
          <a:stretch/>
        </p:blipFill>
        <p:spPr>
          <a:xfrm>
            <a:off x="12192000" y="381000"/>
            <a:ext cx="3302000" cy="281940"/>
          </a:xfrm>
          <a:prstGeom prst="rect">
            <a:avLst/>
          </a:prstGeom>
        </p:spPr>
      </p:pic>
      <p:sp>
        <p:nvSpPr>
          <p:cNvPr id="3" name="example_english-text-2"/>
          <p:cNvSpPr/>
          <p:nvPr/>
        </p:nvSpPr>
        <p:spPr>
          <a:xfrm>
            <a:off x="762000" y="952500"/>
            <a:ext cx="147320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4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 </a:t>
            </a:r>
            <a:r>
              <a:rPr lang="en-US" altLang="en-US" sz="4800" b="1" dirty="0">
                <a:solidFill>
                  <a:srgbClr val="E746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 English prompt</a:t>
            </a:r>
            <a:endParaRPr lang="en-US" sz="4800" dirty="0"/>
          </a:p>
        </p:txBody>
      </p:sp>
      <p:sp>
        <p:nvSpPr>
          <p:cNvPr id="4" name="example_english-shape-3"/>
          <p:cNvSpPr/>
          <p:nvPr/>
        </p:nvSpPr>
        <p:spPr>
          <a:xfrm>
            <a:off x="762000" y="2082800"/>
            <a:ext cx="14732000" cy="9144"/>
          </a:xfrm>
          <a:prstGeom prst="line">
            <a:avLst/>
          </a:prstGeom>
          <a:ln w="25400">
            <a:solidFill>
              <a:srgbClr val="111111"/>
            </a:solidFill>
            <a:prstDash val="solid"/>
          </a:ln>
        </p:spPr>
      </p:sp>
      <p:sp>
        <p:nvSpPr>
          <p:cNvPr id="5" name="example_english-text-4"/>
          <p:cNvSpPr/>
          <p:nvPr/>
        </p:nvSpPr>
        <p:spPr>
          <a:xfrm>
            <a:off x="762000" y="2451100"/>
            <a:ext cx="14732000" cy="538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22"/>
              </a:lnSpc>
              <a:spcAft>
                <a:spcPts val="1400"/>
              </a:spcAft>
              <a:buNone/>
            </a:pPr>
            <a:r>
              <a:rPr lang="en-US" altLang="en-US" sz="2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Compare ‘S6 Reading Revision — teacher notes’ with the selected HKDSE English Language Curriculum and Assessment Guide and assessment framework. Focus on reading comprehension and supporting answers with text evidence.</a:t>
            </a:r>
            <a:endParaRPr lang="en-US" sz="2900" dirty="0"/>
          </a:p>
          <a:p>
            <a:pPr algn="l" indent="0" marL="0">
              <a:lnSpc>
                <a:spcPts val="3422"/>
              </a:lnSpc>
              <a:spcAft>
                <a:spcPts val="1400"/>
              </a:spcAft>
              <a:buNone/>
            </a:pPr>
            <a:r>
              <a:rPr lang="en-US" altLang="en-US" sz="2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 </a:t>
            </a:r>
            <a:r>
              <a:rPr lang="en-US" altLang="en-US" sz="29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four-column table</a:t>
            </a:r>
            <a:r>
              <a:rPr lang="en-US" altLang="en-US" sz="2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Official objective; Evidence in our notes; Coverage (clear / partial / not found); Suggested improvement. Cite both the guidance and our notes. End with three revision-teaching priorities.</a:t>
            </a:r>
            <a:endParaRPr lang="en-US" sz="2900" dirty="0"/>
          </a:p>
          <a:p>
            <a:pPr algn="l" indent="0" marL="0">
              <a:lnSpc>
                <a:spcPts val="3422"/>
              </a:lnSpc>
              <a:spcAft>
                <a:spcPts val="1400"/>
              </a:spcAft>
              <a:buNone/>
            </a:pPr>
            <a:r>
              <a:rPr lang="en-US" altLang="en-US" sz="2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curriculum objectives separate from exam rules. Flag anything not stated in the sources. ‘Not found’ refers only to the selected notes.</a:t>
            </a:r>
            <a:endParaRPr lang="en-US" sz="2900" dirty="0"/>
          </a:p>
          <a:p>
            <a:pPr algn="l" indent="0" marL="0">
              <a:lnSpc>
                <a:spcPts val="3422"/>
              </a:lnSpc>
              <a:buNone/>
            </a:pPr>
            <a:r>
              <a:rPr lang="en-US" altLang="en-US" sz="2900" b="1" dirty="0">
                <a:solidFill>
                  <a:srgbClr val="E746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in English.</a:t>
            </a:r>
            <a:endParaRPr lang="en-US" sz="2900" dirty="0"/>
          </a:p>
        </p:txBody>
      </p:sp>
      <p:sp>
        <p:nvSpPr>
          <p:cNvPr id="6" name="example_english-shape-5"/>
          <p:cNvSpPr/>
          <p:nvPr/>
        </p:nvSpPr>
        <p:spPr>
          <a:xfrm>
            <a:off x="762000" y="8102600"/>
            <a:ext cx="14732000" cy="9144"/>
          </a:xfrm>
          <a:prstGeom prst="line">
            <a:avLst/>
          </a:prstGeom>
          <a:ln w="12700">
            <a:solidFill>
              <a:srgbClr val="CCCCC5"/>
            </a:solidFill>
            <a:prstDash val="solid"/>
          </a:ln>
        </p:spPr>
      </p:sp>
      <p:sp>
        <p:nvSpPr>
          <p:cNvPr id="7" name="example_english-shape-6"/>
          <p:cNvSpPr/>
          <p:nvPr/>
        </p:nvSpPr>
        <p:spPr>
          <a:xfrm>
            <a:off x="762000" y="8305800"/>
            <a:ext cx="457200" cy="457200"/>
          </a:xfrm>
          <a:prstGeom prst="roundRect">
            <a:avLst>
              <a:gd name="adj" fmla="val 19444"/>
            </a:avLst>
          </a:prstGeom>
          <a:ln w="19050">
            <a:solidFill>
              <a:srgbClr val="E74627"/>
            </a:solidFill>
            <a:prstDash val="solid"/>
          </a:ln>
        </p:spPr>
      </p:sp>
      <p:pic>
        <p:nvPicPr>
          <p:cNvPr id="8" name="example_english-image-7" descr="preencoded.png">    </p:cNvPr>
          <p:cNvPicPr>
            <a:picLocks noChangeAspect="1"/>
          </p:cNvPicPr>
          <p:nvPr/>
        </p:nvPicPr>
        <p:blipFill>
          <a:blip r:embed="rId2"/>
          <a:srcRect l="-245" r="-245" t="0" b="0"/>
          <a:stretch/>
        </p:blipFill>
        <p:spPr>
          <a:xfrm>
            <a:off x="812800" y="8356600"/>
            <a:ext cx="355600" cy="355600"/>
          </a:xfrm>
          <a:prstGeom prst="rect">
            <a:avLst/>
          </a:prstGeom>
        </p:spPr>
      </p:pic>
      <p:sp>
        <p:nvSpPr>
          <p:cNvPr id="9" name="example_english-text-8"/>
          <p:cNvSpPr/>
          <p:nvPr/>
        </p:nvSpPr>
        <p:spPr>
          <a:xfrm>
            <a:off x="1397000" y="8407400"/>
            <a:ext cx="90170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5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HKMA K S Lo College Tech in Ed Task Force</a:t>
            </a:r>
            <a:endParaRPr lang="en-US" sz="1500" dirty="0"/>
          </a:p>
        </p:txBody>
      </p:sp>
      <p:sp>
        <p:nvSpPr>
          <p:cNvPr id="10" name="example_english-text-9"/>
          <p:cNvSpPr/>
          <p:nvPr/>
        </p:nvSpPr>
        <p:spPr>
          <a:xfrm>
            <a:off x="12192000" y="8407400"/>
            <a:ext cx="21590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5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Oct 2026</a:t>
            </a:r>
            <a:endParaRPr lang="en-US" sz="1500" dirty="0"/>
          </a:p>
        </p:txBody>
      </p:sp>
      <p:sp>
        <p:nvSpPr>
          <p:cNvPr id="11" name="example_english-text-10"/>
          <p:cNvSpPr/>
          <p:nvPr/>
        </p:nvSpPr>
        <p:spPr>
          <a:xfrm>
            <a:off x="14859000" y="8407400"/>
            <a:ext cx="6350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5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A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emini-notebook-logo" descr="preencoded.png">    </p:cNvPr>
          <p:cNvPicPr>
            <a:picLocks noChangeAspect="1"/>
          </p:cNvPicPr>
          <p:nvPr/>
        </p:nvPicPr>
        <p:blipFill>
          <a:blip r:embed="rId1"/>
          <a:srcRect l="0" r="0" t="-90" b="-90"/>
          <a:stretch/>
        </p:blipFill>
        <p:spPr>
          <a:xfrm>
            <a:off x="12192000" y="381000"/>
            <a:ext cx="3302000" cy="281940"/>
          </a:xfrm>
          <a:prstGeom prst="rect">
            <a:avLst/>
          </a:prstGeom>
        </p:spPr>
      </p:pic>
      <p:sp>
        <p:nvSpPr>
          <p:cNvPr id="3" name="example_chinese-text-2"/>
          <p:cNvSpPr/>
          <p:nvPr/>
        </p:nvSpPr>
        <p:spPr>
          <a:xfrm>
            <a:off x="762000" y="952500"/>
            <a:ext cx="147320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4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 </a:t>
            </a:r>
            <a:r>
              <a:rPr lang="en-US" altLang="en-US" sz="4800" b="1" dirty="0">
                <a:solidFill>
                  <a:srgbClr val="E7462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/ 繁體中文提示詞</a:t>
            </a:r>
            <a:endParaRPr lang="en-US" sz="4800" dirty="0"/>
          </a:p>
        </p:txBody>
      </p:sp>
      <p:sp>
        <p:nvSpPr>
          <p:cNvPr id="4" name="example_chinese-shape-3"/>
          <p:cNvSpPr/>
          <p:nvPr/>
        </p:nvSpPr>
        <p:spPr>
          <a:xfrm>
            <a:off x="762000" y="2082800"/>
            <a:ext cx="14732000" cy="9144"/>
          </a:xfrm>
          <a:prstGeom prst="line">
            <a:avLst/>
          </a:prstGeom>
          <a:ln w="25400">
            <a:solidFill>
              <a:srgbClr val="111111"/>
            </a:solidFill>
            <a:prstDash val="solid"/>
          </a:ln>
        </p:spPr>
      </p:sp>
      <p:sp>
        <p:nvSpPr>
          <p:cNvPr id="5" name="example_chinese-text-4"/>
          <p:cNvSpPr/>
          <p:nvPr/>
        </p:nvSpPr>
        <p:spPr>
          <a:xfrm>
            <a:off x="762000" y="2451100"/>
            <a:ext cx="14732000" cy="538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906"/>
              </a:lnSpc>
              <a:spcAft>
                <a:spcPts val="2000"/>
              </a:spcAft>
              <a:buNone/>
            </a:pPr>
            <a:r>
              <a:rPr lang="en-US" altLang="en-US" sz="310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請把「S6 Reading Revision — teacher notes」與所選HKDSE英文科《課程及評估指引》及評核大綱比較，集中於閱讀理解及以文本證據支持答案。</a:t>
            </a:r>
            <a:endParaRPr lang="en-US" sz="3100" dirty="0"/>
          </a:p>
          <a:p>
            <a:pPr algn="l" indent="0" marL="0">
              <a:lnSpc>
                <a:spcPts val="3906"/>
              </a:lnSpc>
              <a:spcAft>
                <a:spcPts val="2000"/>
              </a:spcAft>
              <a:buNone/>
            </a:pPr>
            <a:r>
              <a:rPr lang="en-US" altLang="en-US" sz="310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</a:t>
            </a:r>
            <a:r>
              <a:rPr lang="en-US" altLang="en-US" sz="31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四欄表格</a:t>
            </a:r>
            <a:r>
              <a:rPr lang="en-US" altLang="en-US" sz="310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：官方目標；教材證據；涵蓋程度（清楚／部分／未找到）；改進建議。引用官方資料及筆記，最後列出三項溫習教學重點。</a:t>
            </a:r>
            <a:endParaRPr lang="en-US" sz="3100" dirty="0"/>
          </a:p>
          <a:p>
            <a:pPr algn="l" indent="0" marL="0">
              <a:lnSpc>
                <a:spcPts val="3906"/>
              </a:lnSpc>
              <a:spcAft>
                <a:spcPts val="2000"/>
              </a:spcAft>
              <a:buNone/>
            </a:pPr>
            <a:r>
              <a:rPr lang="en-US" altLang="en-US" sz="310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區分課程目標與考試規則。資料未有說明的內容，請指出。「未找到」只指所選筆記。</a:t>
            </a:r>
            <a:endParaRPr lang="en-US" sz="3100" dirty="0"/>
          </a:p>
          <a:p>
            <a:pPr algn="l" indent="0" marL="0">
              <a:lnSpc>
                <a:spcPts val="3906"/>
              </a:lnSpc>
              <a:buNone/>
            </a:pPr>
            <a:r>
              <a:rPr lang="en-US" altLang="en-US" sz="3100" b="1" dirty="0">
                <a:solidFill>
                  <a:srgbClr val="E7462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請以繁體中文回答。</a:t>
            </a:r>
            <a:endParaRPr lang="en-US" sz="3100" dirty="0"/>
          </a:p>
        </p:txBody>
      </p:sp>
      <p:sp>
        <p:nvSpPr>
          <p:cNvPr id="6" name="example_chinese-shape-5"/>
          <p:cNvSpPr/>
          <p:nvPr/>
        </p:nvSpPr>
        <p:spPr>
          <a:xfrm>
            <a:off x="762000" y="8102600"/>
            <a:ext cx="14732000" cy="9144"/>
          </a:xfrm>
          <a:prstGeom prst="line">
            <a:avLst/>
          </a:prstGeom>
          <a:ln w="12700">
            <a:solidFill>
              <a:srgbClr val="CCCCC5"/>
            </a:solidFill>
            <a:prstDash val="solid"/>
          </a:ln>
        </p:spPr>
      </p:sp>
      <p:sp>
        <p:nvSpPr>
          <p:cNvPr id="7" name="example_chinese-shape-6"/>
          <p:cNvSpPr/>
          <p:nvPr/>
        </p:nvSpPr>
        <p:spPr>
          <a:xfrm>
            <a:off x="762000" y="8305800"/>
            <a:ext cx="457200" cy="457200"/>
          </a:xfrm>
          <a:prstGeom prst="roundRect">
            <a:avLst>
              <a:gd name="adj" fmla="val 19444"/>
            </a:avLst>
          </a:prstGeom>
          <a:ln w="19050">
            <a:solidFill>
              <a:srgbClr val="E74627"/>
            </a:solidFill>
            <a:prstDash val="solid"/>
          </a:ln>
        </p:spPr>
      </p:sp>
      <p:pic>
        <p:nvPicPr>
          <p:cNvPr id="8" name="example_chinese-image-7" descr="preencoded.png">    </p:cNvPr>
          <p:cNvPicPr>
            <a:picLocks noChangeAspect="1"/>
          </p:cNvPicPr>
          <p:nvPr/>
        </p:nvPicPr>
        <p:blipFill>
          <a:blip r:embed="rId2"/>
          <a:srcRect l="-245" r="-245" t="0" b="0"/>
          <a:stretch/>
        </p:blipFill>
        <p:spPr>
          <a:xfrm>
            <a:off x="812800" y="8356600"/>
            <a:ext cx="355600" cy="355600"/>
          </a:xfrm>
          <a:prstGeom prst="rect">
            <a:avLst/>
          </a:prstGeom>
        </p:spPr>
      </p:pic>
      <p:sp>
        <p:nvSpPr>
          <p:cNvPr id="9" name="example_chinese-text-8"/>
          <p:cNvSpPr/>
          <p:nvPr/>
        </p:nvSpPr>
        <p:spPr>
          <a:xfrm>
            <a:off x="1397000" y="8407400"/>
            <a:ext cx="90170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5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HKMA K S Lo College Tech in Ed Task Force</a:t>
            </a:r>
            <a:endParaRPr lang="en-US" sz="1500" dirty="0"/>
          </a:p>
        </p:txBody>
      </p:sp>
      <p:sp>
        <p:nvSpPr>
          <p:cNvPr id="10" name="example_chinese-text-9"/>
          <p:cNvSpPr/>
          <p:nvPr/>
        </p:nvSpPr>
        <p:spPr>
          <a:xfrm>
            <a:off x="12192000" y="8407400"/>
            <a:ext cx="21590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5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Oct 2026</a:t>
            </a:r>
            <a:endParaRPr lang="en-US" sz="1500" dirty="0"/>
          </a:p>
        </p:txBody>
      </p:sp>
      <p:sp>
        <p:nvSpPr>
          <p:cNvPr id="11" name="example_chinese-text-10"/>
          <p:cNvSpPr/>
          <p:nvPr/>
        </p:nvSpPr>
        <p:spPr>
          <a:xfrm>
            <a:off x="14859000" y="8407400"/>
            <a:ext cx="6350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5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A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emini-notebook-logo" descr="preencoded.png">    </p:cNvPr>
          <p:cNvPicPr>
            <a:picLocks noChangeAspect="1"/>
          </p:cNvPicPr>
          <p:nvPr/>
        </p:nvPicPr>
        <p:blipFill>
          <a:blip r:embed="rId1"/>
          <a:srcRect l="0" r="0" t="-90" b="-90"/>
          <a:stretch/>
        </p:blipFill>
        <p:spPr>
          <a:xfrm>
            <a:off x="12192000" y="381000"/>
            <a:ext cx="3302000" cy="281940"/>
          </a:xfrm>
          <a:prstGeom prst="rect">
            <a:avLst/>
          </a:prstGeom>
        </p:spPr>
      </p:pic>
      <p:sp>
        <p:nvSpPr>
          <p:cNvPr id="3" name="prompt_menu-text-2"/>
          <p:cNvSpPr/>
          <p:nvPr/>
        </p:nvSpPr>
        <p:spPr>
          <a:xfrm>
            <a:off x="762000" y="952500"/>
            <a:ext cx="14732000" cy="1003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5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 useful prompts for teachers.</a:t>
            </a:r>
            <a:endParaRPr lang="en-US" sz="5400" dirty="0"/>
          </a:p>
        </p:txBody>
      </p:sp>
      <p:sp>
        <p:nvSpPr>
          <p:cNvPr id="4" name="prompt_menu-shape-3"/>
          <p:cNvSpPr/>
          <p:nvPr/>
        </p:nvSpPr>
        <p:spPr>
          <a:xfrm>
            <a:off x="762000" y="2247900"/>
            <a:ext cx="14732000" cy="9144"/>
          </a:xfrm>
          <a:prstGeom prst="line">
            <a:avLst/>
          </a:prstGeom>
          <a:ln w="25400">
            <a:solidFill>
              <a:srgbClr val="111111"/>
            </a:solidFill>
            <a:prstDash val="solid"/>
          </a:ln>
        </p:spPr>
      </p:sp>
      <p:sp>
        <p:nvSpPr>
          <p:cNvPr id="5" name="prompt_menu-shape-4"/>
          <p:cNvSpPr/>
          <p:nvPr/>
        </p:nvSpPr>
        <p:spPr>
          <a:xfrm>
            <a:off x="8140700" y="2717800"/>
            <a:ext cx="9144" cy="4813300"/>
          </a:xfrm>
          <a:prstGeom prst="line">
            <a:avLst/>
          </a:prstGeom>
          <a:ln w="12700">
            <a:solidFill>
              <a:srgbClr val="CCCCC5"/>
            </a:solidFill>
            <a:prstDash val="solid"/>
          </a:ln>
        </p:spPr>
      </p:sp>
      <p:sp>
        <p:nvSpPr>
          <p:cNvPr id="6" name="prompt_menu-text-5"/>
          <p:cNvSpPr/>
          <p:nvPr/>
        </p:nvSpPr>
        <p:spPr>
          <a:xfrm>
            <a:off x="762000" y="2743200"/>
            <a:ext cx="7620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3100" b="1" dirty="0">
                <a:solidFill>
                  <a:srgbClr val="E746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3100" dirty="0"/>
          </a:p>
        </p:txBody>
      </p:sp>
      <p:sp>
        <p:nvSpPr>
          <p:cNvPr id="7" name="prompt_menu-text-6"/>
          <p:cNvSpPr/>
          <p:nvPr/>
        </p:nvSpPr>
        <p:spPr>
          <a:xfrm>
            <a:off x="1536700" y="2717800"/>
            <a:ext cx="6248400" cy="812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90"/>
              </a:lnSpc>
              <a:buNone/>
            </a:pPr>
            <a:r>
              <a:rPr lang="en-US" altLang="en-US" sz="26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materials against HKDSE requirements</a:t>
            </a:r>
            <a:endParaRPr lang="en-US" sz="2600" dirty="0"/>
          </a:p>
        </p:txBody>
      </p:sp>
      <p:sp>
        <p:nvSpPr>
          <p:cNvPr id="8" name="prompt_menu-shape-7"/>
          <p:cNvSpPr/>
          <p:nvPr/>
        </p:nvSpPr>
        <p:spPr>
          <a:xfrm>
            <a:off x="762000" y="3606800"/>
            <a:ext cx="6985000" cy="9144"/>
          </a:xfrm>
          <a:prstGeom prst="line">
            <a:avLst/>
          </a:prstGeom>
          <a:ln w="12700">
            <a:solidFill>
              <a:srgbClr val="CCCCC5"/>
            </a:solidFill>
            <a:prstDash val="solid"/>
          </a:ln>
        </p:spPr>
      </p:sp>
      <p:sp>
        <p:nvSpPr>
          <p:cNvPr id="9" name="prompt_menu-text-8"/>
          <p:cNvSpPr/>
          <p:nvPr/>
        </p:nvSpPr>
        <p:spPr>
          <a:xfrm>
            <a:off x="762000" y="3759200"/>
            <a:ext cx="7620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3100" b="1" dirty="0">
                <a:solidFill>
                  <a:srgbClr val="E746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3100" dirty="0"/>
          </a:p>
        </p:txBody>
      </p:sp>
      <p:sp>
        <p:nvSpPr>
          <p:cNvPr id="10" name="prompt_menu-text-9"/>
          <p:cNvSpPr/>
          <p:nvPr/>
        </p:nvSpPr>
        <p:spPr>
          <a:xfrm>
            <a:off x="1536700" y="3733800"/>
            <a:ext cx="6248400" cy="812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90"/>
              </a:lnSpc>
              <a:buNone/>
            </a:pPr>
            <a:r>
              <a:rPr lang="en-US" altLang="en-US" sz="26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 an HKEAA briefing into revision-teaching notes</a:t>
            </a:r>
            <a:endParaRPr lang="en-US" sz="2600" dirty="0"/>
          </a:p>
        </p:txBody>
      </p:sp>
      <p:sp>
        <p:nvSpPr>
          <p:cNvPr id="11" name="prompt_menu-shape-10"/>
          <p:cNvSpPr/>
          <p:nvPr/>
        </p:nvSpPr>
        <p:spPr>
          <a:xfrm>
            <a:off x="762000" y="4622800"/>
            <a:ext cx="6985000" cy="9144"/>
          </a:xfrm>
          <a:prstGeom prst="line">
            <a:avLst/>
          </a:prstGeom>
          <a:ln w="12700">
            <a:solidFill>
              <a:srgbClr val="CCCCC5"/>
            </a:solidFill>
            <a:prstDash val="solid"/>
          </a:ln>
        </p:spPr>
      </p:sp>
      <p:sp>
        <p:nvSpPr>
          <p:cNvPr id="12" name="prompt_menu-text-11"/>
          <p:cNvSpPr/>
          <p:nvPr/>
        </p:nvSpPr>
        <p:spPr>
          <a:xfrm>
            <a:off x="762000" y="4775200"/>
            <a:ext cx="7620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3100" b="1" dirty="0">
                <a:solidFill>
                  <a:srgbClr val="E746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3100" dirty="0"/>
          </a:p>
        </p:txBody>
      </p:sp>
      <p:sp>
        <p:nvSpPr>
          <p:cNvPr id="13" name="prompt_menu-text-12"/>
          <p:cNvSpPr/>
          <p:nvPr/>
        </p:nvSpPr>
        <p:spPr>
          <a:xfrm>
            <a:off x="1536700" y="4749800"/>
            <a:ext cx="6248400" cy="812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90"/>
              </a:lnSpc>
              <a:buNone/>
            </a:pPr>
            <a:r>
              <a:rPr lang="en-US" altLang="en-US" sz="26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an HKDSE lesson with an exit ticket</a:t>
            </a:r>
            <a:endParaRPr lang="en-US" sz="2600" dirty="0"/>
          </a:p>
        </p:txBody>
      </p:sp>
      <p:sp>
        <p:nvSpPr>
          <p:cNvPr id="14" name="prompt_menu-shape-13"/>
          <p:cNvSpPr/>
          <p:nvPr/>
        </p:nvSpPr>
        <p:spPr>
          <a:xfrm>
            <a:off x="762000" y="5638800"/>
            <a:ext cx="6985000" cy="9144"/>
          </a:xfrm>
          <a:prstGeom prst="line">
            <a:avLst/>
          </a:prstGeom>
          <a:ln w="12700">
            <a:solidFill>
              <a:srgbClr val="CCCCC5"/>
            </a:solidFill>
            <a:prstDash val="solid"/>
          </a:ln>
        </p:spPr>
      </p:sp>
      <p:sp>
        <p:nvSpPr>
          <p:cNvPr id="15" name="prompt_menu-text-14"/>
          <p:cNvSpPr/>
          <p:nvPr/>
        </p:nvSpPr>
        <p:spPr>
          <a:xfrm>
            <a:off x="762000" y="5791200"/>
            <a:ext cx="7620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3100" b="1" dirty="0">
                <a:solidFill>
                  <a:srgbClr val="E746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3100" dirty="0"/>
          </a:p>
        </p:txBody>
      </p:sp>
      <p:sp>
        <p:nvSpPr>
          <p:cNvPr id="16" name="prompt_menu-text-15"/>
          <p:cNvSpPr/>
          <p:nvPr/>
        </p:nvSpPr>
        <p:spPr>
          <a:xfrm>
            <a:off x="1536700" y="5765800"/>
            <a:ext cx="6248400" cy="812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90"/>
              </a:lnSpc>
              <a:buNone/>
            </a:pPr>
            <a:r>
              <a:rPr lang="en-US" altLang="en-US" sz="26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Support different levels—keep the same learning goal</a:t>
            </a:r>
            <a:endParaRPr lang="en-US" sz="2600" dirty="0"/>
          </a:p>
        </p:txBody>
      </p:sp>
      <p:sp>
        <p:nvSpPr>
          <p:cNvPr id="17" name="prompt_menu-shape-16"/>
          <p:cNvSpPr/>
          <p:nvPr/>
        </p:nvSpPr>
        <p:spPr>
          <a:xfrm>
            <a:off x="762000" y="6654800"/>
            <a:ext cx="6985000" cy="9144"/>
          </a:xfrm>
          <a:prstGeom prst="line">
            <a:avLst/>
          </a:prstGeom>
          <a:ln w="12700">
            <a:solidFill>
              <a:srgbClr val="CCCCC5"/>
            </a:solidFill>
            <a:prstDash val="solid"/>
          </a:ln>
        </p:spPr>
      </p:sp>
      <p:sp>
        <p:nvSpPr>
          <p:cNvPr id="18" name="prompt_menu-text-17"/>
          <p:cNvSpPr/>
          <p:nvPr/>
        </p:nvSpPr>
        <p:spPr>
          <a:xfrm>
            <a:off x="762000" y="6807200"/>
            <a:ext cx="7620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3100" b="1" dirty="0">
                <a:solidFill>
                  <a:srgbClr val="E746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3100" dirty="0"/>
          </a:p>
        </p:txBody>
      </p:sp>
      <p:sp>
        <p:nvSpPr>
          <p:cNvPr id="19" name="prompt_menu-text-18"/>
          <p:cNvSpPr/>
          <p:nvPr/>
        </p:nvSpPr>
        <p:spPr>
          <a:xfrm>
            <a:off x="1536700" y="6781800"/>
            <a:ext cx="6248400" cy="812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90"/>
              </a:lnSpc>
              <a:buNone/>
            </a:pPr>
            <a:r>
              <a:rPr lang="en-US" altLang="en-US" sz="26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HKDSE-style practice and a separate answer key</a:t>
            </a:r>
            <a:endParaRPr lang="en-US" sz="2600" dirty="0"/>
          </a:p>
        </p:txBody>
      </p:sp>
      <p:sp>
        <p:nvSpPr>
          <p:cNvPr id="20" name="prompt_menu-text-19"/>
          <p:cNvSpPr/>
          <p:nvPr/>
        </p:nvSpPr>
        <p:spPr>
          <a:xfrm>
            <a:off x="8585200" y="2743200"/>
            <a:ext cx="7620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3100" b="1" dirty="0">
                <a:solidFill>
                  <a:srgbClr val="E746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3100" dirty="0"/>
          </a:p>
        </p:txBody>
      </p:sp>
      <p:sp>
        <p:nvSpPr>
          <p:cNvPr id="21" name="prompt_menu-text-20"/>
          <p:cNvSpPr/>
          <p:nvPr/>
        </p:nvSpPr>
        <p:spPr>
          <a:xfrm>
            <a:off x="9359900" y="2717800"/>
            <a:ext cx="6134100" cy="812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90"/>
              </a:lnSpc>
              <a:buNone/>
            </a:pPr>
            <a:r>
              <a:rPr lang="en-US" altLang="en-US" sz="26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 fictional errors into feedback and reteaching</a:t>
            </a:r>
            <a:endParaRPr lang="en-US" sz="2600" dirty="0"/>
          </a:p>
        </p:txBody>
      </p:sp>
      <p:sp>
        <p:nvSpPr>
          <p:cNvPr id="22" name="prompt_menu-shape-21"/>
          <p:cNvSpPr/>
          <p:nvPr/>
        </p:nvSpPr>
        <p:spPr>
          <a:xfrm>
            <a:off x="8585200" y="3606800"/>
            <a:ext cx="6908800" cy="9144"/>
          </a:xfrm>
          <a:prstGeom prst="line">
            <a:avLst/>
          </a:prstGeom>
          <a:ln w="12700">
            <a:solidFill>
              <a:srgbClr val="CCCCC5"/>
            </a:solidFill>
            <a:prstDash val="solid"/>
          </a:ln>
        </p:spPr>
      </p:sp>
      <p:sp>
        <p:nvSpPr>
          <p:cNvPr id="23" name="prompt_menu-text-22"/>
          <p:cNvSpPr/>
          <p:nvPr/>
        </p:nvSpPr>
        <p:spPr>
          <a:xfrm>
            <a:off x="8585200" y="3759200"/>
            <a:ext cx="7620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3100" b="1" dirty="0">
                <a:solidFill>
                  <a:srgbClr val="E746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3100" dirty="0"/>
          </a:p>
        </p:txBody>
      </p:sp>
      <p:sp>
        <p:nvSpPr>
          <p:cNvPr id="24" name="prompt_menu-text-23"/>
          <p:cNvSpPr/>
          <p:nvPr/>
        </p:nvSpPr>
        <p:spPr>
          <a:xfrm>
            <a:off x="9359900" y="3733800"/>
            <a:ext cx="6134100" cy="812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90"/>
              </a:lnSpc>
              <a:buNone/>
            </a:pPr>
            <a:r>
              <a:rPr lang="en-US" altLang="en-US" sz="26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a teaching or assessment draft before use</a:t>
            </a:r>
            <a:endParaRPr lang="en-US" sz="2600" dirty="0"/>
          </a:p>
        </p:txBody>
      </p:sp>
      <p:sp>
        <p:nvSpPr>
          <p:cNvPr id="25" name="prompt_menu-shape-24"/>
          <p:cNvSpPr/>
          <p:nvPr/>
        </p:nvSpPr>
        <p:spPr>
          <a:xfrm>
            <a:off x="8585200" y="4622800"/>
            <a:ext cx="6908800" cy="9144"/>
          </a:xfrm>
          <a:prstGeom prst="line">
            <a:avLst/>
          </a:prstGeom>
          <a:ln w="12700">
            <a:solidFill>
              <a:srgbClr val="CCCCC5"/>
            </a:solidFill>
            <a:prstDash val="solid"/>
          </a:ln>
        </p:spPr>
      </p:sp>
      <p:sp>
        <p:nvSpPr>
          <p:cNvPr id="26" name="prompt_menu-text-25"/>
          <p:cNvSpPr/>
          <p:nvPr/>
        </p:nvSpPr>
        <p:spPr>
          <a:xfrm>
            <a:off x="8585200" y="4775200"/>
            <a:ext cx="7620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3100" b="1" dirty="0">
                <a:solidFill>
                  <a:srgbClr val="E746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3100" dirty="0"/>
          </a:p>
        </p:txBody>
      </p:sp>
      <p:sp>
        <p:nvSpPr>
          <p:cNvPr id="27" name="prompt_menu-text-26"/>
          <p:cNvSpPr/>
          <p:nvPr/>
        </p:nvSpPr>
        <p:spPr>
          <a:xfrm>
            <a:off x="9359900" y="4749800"/>
            <a:ext cx="6134100" cy="812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90"/>
              </a:lnSpc>
              <a:buNone/>
            </a:pPr>
            <a:r>
              <a:rPr lang="en-US" altLang="en-US" sz="26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 a long EDB document into a staff briefing</a:t>
            </a:r>
            <a:endParaRPr lang="en-US" sz="2600" dirty="0"/>
          </a:p>
        </p:txBody>
      </p:sp>
      <p:sp>
        <p:nvSpPr>
          <p:cNvPr id="28" name="prompt_menu-shape-27"/>
          <p:cNvSpPr/>
          <p:nvPr/>
        </p:nvSpPr>
        <p:spPr>
          <a:xfrm>
            <a:off x="8585200" y="5638800"/>
            <a:ext cx="6908800" cy="9144"/>
          </a:xfrm>
          <a:prstGeom prst="line">
            <a:avLst/>
          </a:prstGeom>
          <a:ln w="12700">
            <a:solidFill>
              <a:srgbClr val="CCCCC5"/>
            </a:solidFill>
            <a:prstDash val="solid"/>
          </a:ln>
        </p:spPr>
      </p:sp>
      <p:sp>
        <p:nvSpPr>
          <p:cNvPr id="29" name="prompt_menu-text-28"/>
          <p:cNvSpPr/>
          <p:nvPr/>
        </p:nvSpPr>
        <p:spPr>
          <a:xfrm>
            <a:off x="8585200" y="5791200"/>
            <a:ext cx="7620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3100" b="1" dirty="0">
                <a:solidFill>
                  <a:srgbClr val="E746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3100" dirty="0"/>
          </a:p>
        </p:txBody>
      </p:sp>
      <p:sp>
        <p:nvSpPr>
          <p:cNvPr id="30" name="prompt_menu-text-29"/>
          <p:cNvSpPr/>
          <p:nvPr/>
        </p:nvSpPr>
        <p:spPr>
          <a:xfrm>
            <a:off x="9359900" y="5765800"/>
            <a:ext cx="6134100" cy="812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90"/>
              </a:lnSpc>
              <a:buNone/>
            </a:pPr>
            <a:r>
              <a:rPr lang="en-US" altLang="en-US" sz="26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Extract actions, dates and unanswered questions</a:t>
            </a:r>
            <a:endParaRPr lang="en-US" sz="2600" dirty="0"/>
          </a:p>
        </p:txBody>
      </p:sp>
      <p:sp>
        <p:nvSpPr>
          <p:cNvPr id="31" name="prompt_menu-shape-30"/>
          <p:cNvSpPr/>
          <p:nvPr/>
        </p:nvSpPr>
        <p:spPr>
          <a:xfrm>
            <a:off x="8585200" y="6654800"/>
            <a:ext cx="6908800" cy="9144"/>
          </a:xfrm>
          <a:prstGeom prst="line">
            <a:avLst/>
          </a:prstGeom>
          <a:ln w="12700">
            <a:solidFill>
              <a:srgbClr val="CCCCC5"/>
            </a:solidFill>
            <a:prstDash val="solid"/>
          </a:ln>
        </p:spPr>
      </p:sp>
      <p:sp>
        <p:nvSpPr>
          <p:cNvPr id="32" name="prompt_menu-text-31"/>
          <p:cNvSpPr/>
          <p:nvPr/>
        </p:nvSpPr>
        <p:spPr>
          <a:xfrm>
            <a:off x="8585200" y="6807200"/>
            <a:ext cx="7620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3100" b="1" dirty="0">
                <a:solidFill>
                  <a:srgbClr val="E746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3100" dirty="0"/>
          </a:p>
        </p:txBody>
      </p:sp>
      <p:sp>
        <p:nvSpPr>
          <p:cNvPr id="33" name="prompt_menu-text-32"/>
          <p:cNvSpPr/>
          <p:nvPr/>
        </p:nvSpPr>
        <p:spPr>
          <a:xfrm>
            <a:off x="9359900" y="6781800"/>
            <a:ext cx="6134100" cy="812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90"/>
              </a:lnSpc>
              <a:buNone/>
            </a:pPr>
            <a:r>
              <a:rPr lang="en-US" altLang="en-US" sz="26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Compare official documents: updates or contradictions?</a:t>
            </a:r>
            <a:endParaRPr lang="en-US" sz="2600" dirty="0"/>
          </a:p>
        </p:txBody>
      </p:sp>
      <p:sp>
        <p:nvSpPr>
          <p:cNvPr id="34" name="prompt_menu-shape-33"/>
          <p:cNvSpPr/>
          <p:nvPr/>
        </p:nvSpPr>
        <p:spPr>
          <a:xfrm>
            <a:off x="762000" y="8102600"/>
            <a:ext cx="14732000" cy="9144"/>
          </a:xfrm>
          <a:prstGeom prst="line">
            <a:avLst/>
          </a:prstGeom>
          <a:ln w="12700">
            <a:solidFill>
              <a:srgbClr val="CCCCC5"/>
            </a:solidFill>
            <a:prstDash val="solid"/>
          </a:ln>
        </p:spPr>
      </p:sp>
      <p:sp>
        <p:nvSpPr>
          <p:cNvPr id="35" name="prompt_menu-shape-34"/>
          <p:cNvSpPr/>
          <p:nvPr/>
        </p:nvSpPr>
        <p:spPr>
          <a:xfrm>
            <a:off x="762000" y="8305800"/>
            <a:ext cx="457200" cy="457200"/>
          </a:xfrm>
          <a:prstGeom prst="roundRect">
            <a:avLst>
              <a:gd name="adj" fmla="val 19444"/>
            </a:avLst>
          </a:prstGeom>
          <a:ln w="19050">
            <a:solidFill>
              <a:srgbClr val="E74627"/>
            </a:solidFill>
            <a:prstDash val="solid"/>
          </a:ln>
        </p:spPr>
      </p:sp>
      <p:pic>
        <p:nvPicPr>
          <p:cNvPr id="36" name="prompt_menu-image-35" descr="preencoded.png">    </p:cNvPr>
          <p:cNvPicPr>
            <a:picLocks noChangeAspect="1"/>
          </p:cNvPicPr>
          <p:nvPr/>
        </p:nvPicPr>
        <p:blipFill>
          <a:blip r:embed="rId2"/>
          <a:srcRect l="-245" r="-245" t="0" b="0"/>
          <a:stretch/>
        </p:blipFill>
        <p:spPr>
          <a:xfrm>
            <a:off x="812800" y="8356600"/>
            <a:ext cx="355600" cy="355600"/>
          </a:xfrm>
          <a:prstGeom prst="rect">
            <a:avLst/>
          </a:prstGeom>
        </p:spPr>
      </p:pic>
      <p:sp>
        <p:nvSpPr>
          <p:cNvPr id="37" name="prompt_menu-text-36"/>
          <p:cNvSpPr/>
          <p:nvPr/>
        </p:nvSpPr>
        <p:spPr>
          <a:xfrm>
            <a:off x="1397000" y="8407400"/>
            <a:ext cx="90170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5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HKMA K S Lo College Tech in Ed Task Force</a:t>
            </a:r>
            <a:endParaRPr lang="en-US" sz="1500" dirty="0"/>
          </a:p>
        </p:txBody>
      </p:sp>
      <p:sp>
        <p:nvSpPr>
          <p:cNvPr id="38" name="prompt_menu-text-37"/>
          <p:cNvSpPr/>
          <p:nvPr/>
        </p:nvSpPr>
        <p:spPr>
          <a:xfrm>
            <a:off x="12192000" y="8407400"/>
            <a:ext cx="21590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5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Oct 2026</a:t>
            </a:r>
            <a:endParaRPr lang="en-US" sz="1500" dirty="0"/>
          </a:p>
        </p:txBody>
      </p:sp>
      <p:sp>
        <p:nvSpPr>
          <p:cNvPr id="39" name="prompt_menu-text-38"/>
          <p:cNvSpPr/>
          <p:nvPr/>
        </p:nvSpPr>
        <p:spPr>
          <a:xfrm>
            <a:off x="14859000" y="8407400"/>
            <a:ext cx="6350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5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5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A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emini-notebook-logo" descr="preencoded.png">    </p:cNvPr>
          <p:cNvPicPr>
            <a:picLocks noChangeAspect="1"/>
          </p:cNvPicPr>
          <p:nvPr/>
        </p:nvPicPr>
        <p:blipFill>
          <a:blip r:embed="rId1"/>
          <a:srcRect l="0" r="0" t="-90" b="-90"/>
          <a:stretch/>
        </p:blipFill>
        <p:spPr>
          <a:xfrm>
            <a:off x="12192000" y="381000"/>
            <a:ext cx="3302000" cy="281940"/>
          </a:xfrm>
          <a:prstGeom prst="rect">
            <a:avLst/>
          </a:prstGeom>
        </p:spPr>
      </p:pic>
      <p:sp>
        <p:nvSpPr>
          <p:cNvPr id="3" name="qa-text-2"/>
          <p:cNvSpPr/>
          <p:nvPr/>
        </p:nvSpPr>
        <p:spPr>
          <a:xfrm>
            <a:off x="762000" y="825500"/>
            <a:ext cx="10985500" cy="1295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7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Q&amp;A.</a:t>
            </a:r>
            <a:endParaRPr lang="en-US" sz="7800" dirty="0"/>
          </a:p>
        </p:txBody>
      </p:sp>
      <p:sp>
        <p:nvSpPr>
          <p:cNvPr id="4" name="qa-text-3"/>
          <p:cNvSpPr/>
          <p:nvPr/>
        </p:nvSpPr>
        <p:spPr>
          <a:xfrm>
            <a:off x="762000" y="2603500"/>
            <a:ext cx="14732000" cy="176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824"/>
              </a:lnSpc>
              <a:buNone/>
            </a:pPr>
            <a:r>
              <a:rPr lang="en-US" altLang="en-US" sz="5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will you try</a:t>
            </a:r>
            <a:endParaRPr lang="en-US" sz="5600" dirty="0"/>
          </a:p>
          <a:p>
            <a:pPr algn="l" indent="0" marL="0">
              <a:lnSpc>
                <a:spcPts val="5824"/>
              </a:lnSpc>
              <a:buNone/>
            </a:pPr>
            <a:r>
              <a:rPr lang="en-US" altLang="en-US" sz="5600" b="1" dirty="0">
                <a:solidFill>
                  <a:srgbClr val="E746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week?</a:t>
            </a:r>
            <a:endParaRPr lang="en-US" sz="5600" dirty="0"/>
          </a:p>
        </p:txBody>
      </p:sp>
      <p:sp>
        <p:nvSpPr>
          <p:cNvPr id="5" name="qa-shape-4"/>
          <p:cNvSpPr/>
          <p:nvPr/>
        </p:nvSpPr>
        <p:spPr>
          <a:xfrm>
            <a:off x="762000" y="4826000"/>
            <a:ext cx="14732000" cy="9144"/>
          </a:xfrm>
          <a:prstGeom prst="line">
            <a:avLst/>
          </a:prstGeom>
          <a:ln w="25400">
            <a:solidFill>
              <a:srgbClr val="111111"/>
            </a:solidFill>
            <a:prstDash val="solid"/>
          </a:ln>
        </p:spPr>
      </p:sp>
      <p:sp>
        <p:nvSpPr>
          <p:cNvPr id="6" name="qa-text-5"/>
          <p:cNvSpPr/>
          <p:nvPr/>
        </p:nvSpPr>
        <p:spPr>
          <a:xfrm>
            <a:off x="762000" y="5372100"/>
            <a:ext cx="14732000" cy="233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539750" indent="-539750">
              <a:lnSpc>
                <a:spcPts val="5610"/>
              </a:lnSpc>
              <a:spcBef>
                <a:spcPts val="10"/>
              </a:spcBef>
              <a:buSzPct val="100000"/>
              <a:buChar char="•"/>
            </a:pPr>
            <a:r>
              <a:rPr lang="en-US" altLang="en-US" sz="34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teaching task.</a:t>
            </a:r>
            <a:endParaRPr lang="en-US" sz="3400" dirty="0"/>
          </a:p>
          <a:p>
            <a:pPr algn="l" marL="539750" indent="-539750">
              <a:lnSpc>
                <a:spcPts val="5610"/>
              </a:lnSpc>
              <a:spcBef>
                <a:spcPts val="10"/>
              </a:spcBef>
              <a:buSzPct val="100000"/>
              <a:buChar char="•"/>
            </a:pPr>
            <a:r>
              <a:rPr lang="en-US" altLang="en-US" sz="34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improvement to your instructions.</a:t>
            </a:r>
            <a:endParaRPr lang="en-US" sz="3400" dirty="0"/>
          </a:p>
          <a:p>
            <a:pPr algn="l" marL="539750" indent="-539750">
              <a:lnSpc>
                <a:spcPts val="5610"/>
              </a:lnSpc>
              <a:spcBef>
                <a:spcPts val="10"/>
              </a:spcBef>
              <a:buSzPct val="100000"/>
              <a:buChar char="•"/>
            </a:pPr>
            <a:r>
              <a:rPr lang="en-US" altLang="en-US" sz="34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Studio function that you will put to work.</a:t>
            </a:r>
            <a:endParaRPr lang="en-US" sz="3400" dirty="0"/>
          </a:p>
        </p:txBody>
      </p:sp>
      <p:sp>
        <p:nvSpPr>
          <p:cNvPr id="7" name="qa-shape-6"/>
          <p:cNvSpPr/>
          <p:nvPr/>
        </p:nvSpPr>
        <p:spPr>
          <a:xfrm>
            <a:off x="762000" y="8102600"/>
            <a:ext cx="14732000" cy="9144"/>
          </a:xfrm>
          <a:prstGeom prst="line">
            <a:avLst/>
          </a:prstGeom>
          <a:ln w="12700">
            <a:solidFill>
              <a:srgbClr val="CCCCC5"/>
            </a:solidFill>
            <a:prstDash val="solid"/>
          </a:ln>
        </p:spPr>
      </p:sp>
      <p:sp>
        <p:nvSpPr>
          <p:cNvPr id="8" name="qa-shape-7"/>
          <p:cNvSpPr/>
          <p:nvPr/>
        </p:nvSpPr>
        <p:spPr>
          <a:xfrm>
            <a:off x="762000" y="8305800"/>
            <a:ext cx="457200" cy="457200"/>
          </a:xfrm>
          <a:prstGeom prst="roundRect">
            <a:avLst>
              <a:gd name="adj" fmla="val 19444"/>
            </a:avLst>
          </a:prstGeom>
          <a:ln w="19050">
            <a:solidFill>
              <a:srgbClr val="E74627"/>
            </a:solidFill>
            <a:prstDash val="solid"/>
          </a:ln>
        </p:spPr>
      </p:sp>
      <p:pic>
        <p:nvPicPr>
          <p:cNvPr id="9" name="qa-image-8" descr="preencoded.png">    </p:cNvPr>
          <p:cNvPicPr>
            <a:picLocks noChangeAspect="1"/>
          </p:cNvPicPr>
          <p:nvPr/>
        </p:nvPicPr>
        <p:blipFill>
          <a:blip r:embed="rId2"/>
          <a:srcRect l="-245" r="-245" t="0" b="0"/>
          <a:stretch/>
        </p:blipFill>
        <p:spPr>
          <a:xfrm>
            <a:off x="812800" y="8356600"/>
            <a:ext cx="355600" cy="355600"/>
          </a:xfrm>
          <a:prstGeom prst="rect">
            <a:avLst/>
          </a:prstGeom>
        </p:spPr>
      </p:pic>
      <p:sp>
        <p:nvSpPr>
          <p:cNvPr id="10" name="qa-text-9"/>
          <p:cNvSpPr/>
          <p:nvPr/>
        </p:nvSpPr>
        <p:spPr>
          <a:xfrm>
            <a:off x="1397000" y="8407400"/>
            <a:ext cx="90170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5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HKMA K S Lo College Tech in Ed Task Force</a:t>
            </a:r>
            <a:endParaRPr lang="en-US" sz="1500" dirty="0"/>
          </a:p>
        </p:txBody>
      </p:sp>
      <p:sp>
        <p:nvSpPr>
          <p:cNvPr id="11" name="qa-text-10"/>
          <p:cNvSpPr/>
          <p:nvPr/>
        </p:nvSpPr>
        <p:spPr>
          <a:xfrm>
            <a:off x="12192000" y="8407400"/>
            <a:ext cx="21590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5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Oct 2026</a:t>
            </a:r>
            <a:endParaRPr lang="en-US" sz="1500" dirty="0"/>
          </a:p>
        </p:txBody>
      </p:sp>
      <p:sp>
        <p:nvSpPr>
          <p:cNvPr id="12" name="qa-text-11"/>
          <p:cNvSpPr/>
          <p:nvPr/>
        </p:nvSpPr>
        <p:spPr>
          <a:xfrm>
            <a:off x="14859000" y="8407400"/>
            <a:ext cx="6350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5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Manus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Gemini Notebook Workshop (Intermediate Level)</dc:title>
  <dc:subject>Gemini Notebook Workshop (Intermediate Level)</dc:subject>
  <dc:creator>Manus</dc:creator>
  <cp:lastModifiedBy>Manus</cp:lastModifiedBy>
  <cp:revision>1</cp:revision>
  <dcterms:created xsi:type="dcterms:W3CDTF">2026-10-11T14:30:22Z</dcterms:created>
  <dcterms:modified xsi:type="dcterms:W3CDTF">2026-10-11T14:30:22Z</dcterms:modified>
</cp:coreProperties>
</file>